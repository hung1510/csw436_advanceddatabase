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4"/>
  </p:notesMasterIdLst>
  <p:sldIdLst>
    <p:sldId id="256" r:id="rId2"/>
    <p:sldId id="257" r:id="rId3"/>
    <p:sldId id="258" r:id="rId4"/>
    <p:sldId id="279" r:id="rId5"/>
    <p:sldId id="260" r:id="rId6"/>
    <p:sldId id="261" r:id="rId7"/>
    <p:sldId id="281" r:id="rId8"/>
    <p:sldId id="262" r:id="rId9"/>
    <p:sldId id="263" r:id="rId10"/>
    <p:sldId id="264" r:id="rId11"/>
    <p:sldId id="282" r:id="rId12"/>
    <p:sldId id="265" r:id="rId13"/>
    <p:sldId id="283" r:id="rId14"/>
    <p:sldId id="266" r:id="rId15"/>
    <p:sldId id="267" r:id="rId16"/>
    <p:sldId id="284" r:id="rId17"/>
    <p:sldId id="268" r:id="rId18"/>
    <p:sldId id="269" r:id="rId19"/>
    <p:sldId id="285" r:id="rId20"/>
    <p:sldId id="270" r:id="rId21"/>
    <p:sldId id="271" r:id="rId22"/>
    <p:sldId id="272" r:id="rId23"/>
    <p:sldId id="273" r:id="rId24"/>
    <p:sldId id="274" r:id="rId25"/>
    <p:sldId id="286" r:id="rId26"/>
    <p:sldId id="287" r:id="rId27"/>
    <p:sldId id="276" r:id="rId28"/>
    <p:sldId id="277" r:id="rId29"/>
    <p:sldId id="288" r:id="rId30"/>
    <p:sldId id="289" r:id="rId31"/>
    <p:sldId id="278" r:id="rId32"/>
    <p:sldId id="290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7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7D4A0-AB3B-4297-96DC-A945D1E47E93}" type="datetimeFigureOut">
              <a:rPr lang="en-IN" smtClean="0"/>
              <a:t>30/12/25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1FCF7-259F-45CA-8CE9-4E74229F3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861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qlzoo.net/wiki/SQL_Tutorial" TargetMode="External"/><Relationship Id="rId2" Type="http://schemas.openxmlformats.org/officeDocument/2006/relationships/hyperlink" Target="https://sqlfiddle.com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149" y="544285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and Optimization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FF45D1F-3D82-9B9E-08AE-C5F1368DB82B}"/>
              </a:ext>
            </a:extLst>
          </p:cNvPr>
          <p:cNvSpPr txBox="1">
            <a:spLocks/>
          </p:cNvSpPr>
          <p:nvPr/>
        </p:nvSpPr>
        <p:spPr>
          <a:xfrm>
            <a:off x="2034540" y="2538946"/>
            <a:ext cx="7772400" cy="71860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100" dirty="0">
                <a:solidFill>
                  <a:schemeClr val="bg2">
                    <a:lumMod val="25000"/>
                  </a:schemeClr>
                </a:solidFill>
              </a:rPr>
              <a:t>Week - 2 ,Topic – 2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B52F3B1-1E6E-7DD8-114D-DBEFE6EFAF42}"/>
              </a:ext>
            </a:extLst>
          </p:cNvPr>
          <p:cNvSpPr txBox="1">
            <a:spLocks/>
          </p:cNvSpPr>
          <p:nvPr/>
        </p:nvSpPr>
        <p:spPr>
          <a:xfrm>
            <a:off x="3474720" y="3377566"/>
            <a:ext cx="5242560" cy="445770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Query Processing and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83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Outline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64224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25783"/>
            <a:ext cx="10744200" cy="19833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steps and core algorithms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algorithms and pipelining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 techniques (rule-based + practical)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optimization and execution plans</a:t>
            </a:r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400" dirty="0">
                <a:solidFill>
                  <a:srgbClr val="444444"/>
                </a:solidFill>
                <a:latin typeface="Calibri" pitchFamily="34" charset="0"/>
                <a:cs typeface="Calibri" pitchFamily="34" charset="-120"/>
              </a:rPr>
              <a:t>Use case with examples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Query Processing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3880" y="1028173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Query processing steps and algorithms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8610" y="2178038"/>
            <a:ext cx="5257800" cy="33888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 algn="just">
              <a:buSzPct val="100000"/>
              <a:buFontTx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is the DBMS workflow that translates a declarative query (SQL) into an efficient sequence of physical operations that produces the  actual results.</a:t>
            </a:r>
            <a:endParaRPr lang="en-US" sz="1600" dirty="0"/>
          </a:p>
          <a:p>
            <a:pPr marL="355600" indent="-355600" algn="just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usually a physical plan (a tree of operators).</a:t>
            </a:r>
          </a:p>
          <a:p>
            <a:pPr algn="just">
              <a:buSzPct val="100000"/>
            </a:pPr>
            <a:endParaRPr lang="en-US" sz="1600" dirty="0">
              <a:solidFill>
                <a:srgbClr val="111111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altLang="en-US" sz="1600" dirty="0">
                <a:ea typeface="ＭＳ Ｐゴシック" panose="020B0600070205080204" pitchFamily="34" charset="-128"/>
              </a:rPr>
              <a:t>Steps for Query Processing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US" sz="1600" dirty="0">
                <a:ea typeface="ＭＳ Ｐゴシック" panose="020B0600070205080204" pitchFamily="34" charset="-128"/>
              </a:rPr>
              <a:t>Parsing and translation - 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SQL syntax; build a parse tree (translate into a Relational algebra)</a:t>
            </a:r>
            <a:endParaRPr lang="en-US" altLang="en-US" sz="1600" dirty="0">
              <a:ea typeface="ＭＳ Ｐゴシック" panose="020B060007020508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1600" dirty="0">
                <a:ea typeface="ＭＳ Ｐゴシック" panose="020B0600070205080204" pitchFamily="34" charset="-128"/>
              </a:rPr>
              <a:t>Optimization - 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join order + algorithms + access paths.</a:t>
            </a:r>
            <a:endParaRPr lang="en-US" altLang="en-US" sz="1600" dirty="0">
              <a:ea typeface="ＭＳ Ｐゴシック" panose="020B0600070205080204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1600" dirty="0">
                <a:ea typeface="ＭＳ Ｐゴシック" panose="020B0600070205080204" pitchFamily="34" charset="-128"/>
              </a:rPr>
              <a:t>Evaluation - The query-execution engine takes a query-evaluation plan (logical or physical), executes that plan, and returns the answers to the query.</a:t>
            </a:r>
          </a:p>
          <a:p>
            <a:pPr marL="342900" indent="-342900">
              <a:buFont typeface="+mj-lt"/>
              <a:buAutoNum type="arabicPeriod"/>
            </a:pP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290" y="6006383"/>
            <a:ext cx="7989570" cy="805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 relational algebra operators like σ (selection), π (projection), ⋈ (join).</a:t>
            </a:r>
          </a:p>
          <a:p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many different plans can produce the same answer, but with very different runtime.</a:t>
            </a:r>
            <a:endParaRPr lang="en-US" sz="1400" dirty="0"/>
          </a:p>
          <a:p>
            <a:pPr marL="0" indent="0">
              <a:buNone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7B2AF210-07B3-B10F-8F84-243C410DE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490" y="2560319"/>
            <a:ext cx="5676900" cy="3486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BE591D-E86A-0EAD-E70B-B5C288AC7CAA}"/>
              </a:ext>
            </a:extLst>
          </p:cNvPr>
          <p:cNvSpPr txBox="1"/>
          <p:nvPr/>
        </p:nvSpPr>
        <p:spPr>
          <a:xfrm>
            <a:off x="7978140" y="6046470"/>
            <a:ext cx="2526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Steps for Query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84C8779-52A2-A02A-B620-9F64F4A173EF}"/>
              </a:ext>
            </a:extLst>
          </p:cNvPr>
          <p:cNvSpPr txBox="1">
            <a:spLocks noChangeArrowheads="1"/>
          </p:cNvSpPr>
          <p:nvPr/>
        </p:nvSpPr>
        <p:spPr>
          <a:xfrm>
            <a:off x="328295" y="2486661"/>
            <a:ext cx="11535410" cy="4074159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altLang="en-US" sz="2000" dirty="0">
                <a:ea typeface="ＭＳ Ｐゴシック" panose="020B0600070205080204" pitchFamily="34" charset="-128"/>
              </a:rPr>
              <a:t>A relational algebra expression may have many equivalent expressions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>
                <a:ea typeface="ＭＳ Ｐゴシック" panose="020B0600070205080204" pitchFamily="34" charset="-128"/>
              </a:rPr>
              <a:t>E.g., </a:t>
            </a:r>
            <a:r>
              <a:rPr lang="en-US" altLang="en-US" sz="2400" dirty="0">
                <a:ea typeface="ＭＳ Ｐゴシック" panose="020B0600070205080204" pitchFamily="34" charset="-128"/>
                <a:sym typeface="Symbol" pitchFamily="2" charset="2"/>
              </a:rPr>
              <a:t></a:t>
            </a:r>
            <a:r>
              <a:rPr lang="en-US" altLang="en-US" sz="2400" i="1" baseline="-25000" dirty="0">
                <a:ea typeface="ＭＳ Ｐゴシック" panose="020B0600070205080204" pitchFamily="34" charset="-128"/>
                <a:sym typeface="Symbol" pitchFamily="2" charset="2"/>
              </a:rPr>
              <a:t>salary</a:t>
            </a:r>
            <a:r>
              <a:rPr lang="en-US" altLang="en-US" sz="2400" baseline="-25000" dirty="0">
                <a:ea typeface="ＭＳ Ｐゴシック" panose="020B0600070205080204" pitchFamily="34" charset="-128"/>
                <a:sym typeface="Symbol" pitchFamily="2" charset="2"/>
              </a:rPr>
              <a:t>75000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(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</a:t>
            </a:r>
            <a:r>
              <a:rPr lang="en-US" altLang="en-US" sz="2000" i="1" baseline="-25000" dirty="0">
                <a:ea typeface="ＭＳ Ｐゴシック" panose="020B0600070205080204" pitchFamily="34" charset="-128"/>
                <a:sym typeface="Symbol" pitchFamily="2" charset="2"/>
              </a:rPr>
              <a:t>salary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(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instructor)) 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is equivalent to 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</a:t>
            </a:r>
            <a:r>
              <a:rPr lang="en-US" altLang="en-US" sz="2400" i="1" baseline="-25000" dirty="0">
                <a:ea typeface="ＭＳ Ｐゴシック" panose="020B0600070205080204" pitchFamily="34" charset="-128"/>
                <a:sym typeface="Symbol" pitchFamily="2" charset="2"/>
              </a:rPr>
              <a:t>salary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(</a:t>
            </a:r>
            <a:r>
              <a:rPr lang="en-US" altLang="en-US" sz="2400" dirty="0">
                <a:ea typeface="ＭＳ Ｐゴシック" panose="020B0600070205080204" pitchFamily="34" charset="-128"/>
                <a:sym typeface="Symbol" pitchFamily="2" charset="2"/>
              </a:rPr>
              <a:t></a:t>
            </a:r>
            <a:r>
              <a:rPr lang="en-US" altLang="en-US" sz="2400" i="1" baseline="-25000" dirty="0">
                <a:ea typeface="ＭＳ Ｐゴシック" panose="020B0600070205080204" pitchFamily="34" charset="-128"/>
                <a:sym typeface="Symbol" pitchFamily="2" charset="2"/>
              </a:rPr>
              <a:t>salary</a:t>
            </a:r>
            <a:r>
              <a:rPr lang="en-US" altLang="en-US" sz="2400" baseline="-25000" dirty="0">
                <a:ea typeface="ＭＳ Ｐゴシック" panose="020B0600070205080204" pitchFamily="34" charset="-128"/>
                <a:sym typeface="Symbol" pitchFamily="2" charset="2"/>
              </a:rPr>
              <a:t>75000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(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instructor))</a:t>
            </a:r>
          </a:p>
          <a:p>
            <a:pPr>
              <a:buFont typeface="Wingdings" pitchFamily="2" charset="2"/>
              <a:buChar char="ü"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Each relational algebra operation can be evaluated using one of several different algorithms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Correspondingly, a relational-algebra expression can be evaluated in many ways. </a:t>
            </a:r>
          </a:p>
          <a:p>
            <a:pPr>
              <a:buFont typeface="Wingdings" pitchFamily="2" charset="2"/>
              <a:buChar char="ü"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Annotated expression specifying detailed evaluation strategy is called an </a:t>
            </a:r>
            <a:r>
              <a:rPr lang="en-US" altLang="en-US" sz="2000" dirty="0">
                <a:solidFill>
                  <a:schemeClr val="accent1">
                    <a:lumMod val="50000"/>
                  </a:schemeClr>
                </a:solidFill>
                <a:ea typeface="ＭＳ Ｐゴシック" panose="020B0600070205080204" pitchFamily="34" charset="-128"/>
                <a:sym typeface="Symbol" pitchFamily="2" charset="2"/>
              </a:rPr>
              <a:t>evaluation-plan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. It can be Logical (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) or physical plan (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operators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E.g., can use an index on 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salary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 to find instructors with salary &lt; 75000,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or can perform complete relation scan and discard instructors with salary  75000</a:t>
            </a:r>
          </a:p>
          <a:p>
            <a:pPr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>
                    <a:lumMod val="50000"/>
                  </a:schemeClr>
                </a:solidFill>
                <a:ea typeface="ＭＳ Ｐゴシック" panose="020B0600070205080204" pitchFamily="34" charset="-128"/>
                <a:sym typeface="Symbol" pitchFamily="2" charset="2"/>
              </a:rPr>
              <a:t>Query Optimization</a:t>
            </a:r>
            <a:r>
              <a:rPr lang="en-US" altLang="en-US" sz="2000" dirty="0">
                <a:solidFill>
                  <a:schemeClr val="tx2"/>
                </a:solidFill>
                <a:ea typeface="ＭＳ Ｐゴシック" panose="020B0600070205080204" pitchFamily="34" charset="-128"/>
                <a:sym typeface="Symbol" pitchFamily="2" charset="2"/>
              </a:rPr>
              <a:t>: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  Amongst all equivalent evaluation plans choose the one with lowest cost. </a:t>
            </a:r>
          </a:p>
          <a:p>
            <a:pPr marL="301943" lvl="1" indent="0">
              <a:buNone/>
            </a:pP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Example - SELECT * FROM Student WHERE </a:t>
            </a:r>
            <a:r>
              <a:rPr lang="en-US" altLang="en-US" sz="2000" dirty="0" err="1">
                <a:ea typeface="ＭＳ Ｐゴシック" panose="020B0600070205080204" pitchFamily="34" charset="-128"/>
                <a:sym typeface="Symbol" pitchFamily="2" charset="2"/>
              </a:rPr>
              <a:t>roll_no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 = 101; (Optimize by - Use </a:t>
            </a:r>
            <a:r>
              <a:rPr lang="en-US" altLang="en-US" sz="2000" dirty="0" err="1">
                <a:ea typeface="ＭＳ Ｐゴシック" panose="020B0600070205080204" pitchFamily="34" charset="-128"/>
                <a:sym typeface="Symbol" pitchFamily="2" charset="2"/>
              </a:rPr>
              <a:t>roll_no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 for fast scan)</a:t>
            </a:r>
            <a:endParaRPr lang="en-US" altLang="en-US" sz="2200" dirty="0">
              <a:ea typeface="ＭＳ Ｐゴシック" panose="020B0600070205080204" pitchFamily="34" charset="-128"/>
              <a:sym typeface="Symbol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E1FA21-5B8C-5780-CF28-3082E1F1EF91}"/>
              </a:ext>
            </a:extLst>
          </p:cNvPr>
          <p:cNvSpPr txBox="1"/>
          <p:nvPr/>
        </p:nvSpPr>
        <p:spPr>
          <a:xfrm>
            <a:off x="682942" y="598259"/>
            <a:ext cx="85753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anose="020B0600070205080204" pitchFamily="34" charset="-128"/>
              </a:rPr>
              <a:t>Query Processing : Optimization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60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Algorithms - Selection (σ)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rows that satisfy a condition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8610" y="2114187"/>
            <a:ext cx="10744200" cy="35893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scan: read every page and test the predicate.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cs typeface="Calibri" pitchFamily="34" charset="-120"/>
              </a:rPr>
              <a:t>Example - SELECT * FROM Student WHERE University = ‘EIU’;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IN" sz="2400" dirty="0"/>
              <a:t>Used when no index exists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scan: use an index to jump to matching tuples.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US" sz="2200" dirty="0"/>
              <a:t>Example - SELECT * FROM Student WHERE </a:t>
            </a:r>
            <a:r>
              <a:rPr lang="en-US" sz="2200" dirty="0" err="1"/>
              <a:t>roll_no</a:t>
            </a:r>
            <a:r>
              <a:rPr lang="en-US" sz="2200" dirty="0"/>
              <a:t> = 101;</a:t>
            </a:r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 index scan: combine multiple conditions efficiently.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cs typeface="Calibri" pitchFamily="34" charset="-120"/>
              </a:rPr>
              <a:t>Example – </a:t>
            </a:r>
          </a:p>
          <a:p>
            <a:pPr lvl="1">
              <a:buSzPct val="100000"/>
            </a:pP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depends on selectivity (how many rows match).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8610" y="5925312"/>
            <a:ext cx="10744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example: sel(A=5) = (#rows where A=5) / (total #rows).</a:t>
            </a:r>
            <a:endParaRPr lang="en-US" sz="18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7CDBDD7-E457-EA1F-434E-AA549B043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6048" y="4274820"/>
            <a:ext cx="7692392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Aggregation (GROUP BY)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ways to group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2320219"/>
            <a:ext cx="6926580" cy="3605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Sort-based: sort by the GROUP BY key, then scan and aggregate.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Hash-based: hash tuples into buckets by key, then aggregate per bucket.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may spill to disk if data does not fit in memory.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aggregates: COUNT(*), SUM(x), AVG(x).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AVG(salary) = (SUM(salary)) / (COUNT(*))</a:t>
            </a:r>
            <a:endParaRPr lang="en-US" sz="2000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For relations that fit in memory, techniques like quicksort can be used.  </a:t>
            </a:r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For relations that don</a:t>
            </a:r>
            <a:r>
              <a:rPr lang="ja-JP" altLang="en-US" sz="2200">
                <a:ea typeface="ＭＳ Ｐゴシック" panose="020B0600070205080204" pitchFamily="34" charset="-128"/>
              </a:rPr>
              <a:t>’</a:t>
            </a:r>
            <a:r>
              <a:rPr lang="en-US" altLang="ja-JP" sz="2200" dirty="0">
                <a:ea typeface="ＭＳ Ｐゴシック" panose="020B0600070205080204" pitchFamily="34" charset="-128"/>
              </a:rPr>
              <a:t>t fit in memory, </a:t>
            </a:r>
            <a:r>
              <a:rPr lang="en-US" altLang="ja-JP" sz="2200" b="1" dirty="0">
                <a:ea typeface="ＭＳ Ｐゴシック" panose="020B0600070205080204" pitchFamily="34" charset="-128"/>
              </a:rPr>
              <a:t>external sort-merge </a:t>
            </a:r>
            <a:r>
              <a:rPr lang="en-US" altLang="ja-JP" sz="2200" dirty="0">
                <a:ea typeface="ＭＳ Ｐゴシック" panose="020B0600070205080204" pitchFamily="34" charset="-128"/>
              </a:rPr>
              <a:t>is a good choice. 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pPr marL="355600" indent="-355600">
              <a:buSzPct val="100000"/>
              <a:buFont typeface="Wingdings" pitchFamily="2" charset="2"/>
              <a:buChar char="q"/>
            </a:pP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AE37E0-2FEF-0BAF-118E-0D6CD6213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828810"/>
            <a:ext cx="4263390" cy="4411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922774-371B-DACE-D23D-04608E022802}"/>
              </a:ext>
            </a:extLst>
          </p:cNvPr>
          <p:cNvSpPr txBox="1"/>
          <p:nvPr/>
        </p:nvSpPr>
        <p:spPr>
          <a:xfrm>
            <a:off x="8275320" y="6353294"/>
            <a:ext cx="311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Example- External sort merge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93018F-66AB-710E-BA6F-FAC6F796D85B}"/>
              </a:ext>
            </a:extLst>
          </p:cNvPr>
          <p:cNvSpPr txBox="1"/>
          <p:nvPr/>
        </p:nvSpPr>
        <p:spPr>
          <a:xfrm>
            <a:off x="548640" y="525780"/>
            <a:ext cx="5339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cs typeface="Times New Roman" panose="02020603050405020304" pitchFamily="18" charset="0"/>
              </a:rPr>
              <a:t>Projection Algorithm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EC7E2-84E5-D813-A1EF-B5C89D53483F}"/>
              </a:ext>
            </a:extLst>
          </p:cNvPr>
          <p:cNvSpPr txBox="1"/>
          <p:nvPr/>
        </p:nvSpPr>
        <p:spPr>
          <a:xfrm>
            <a:off x="306994" y="2747486"/>
            <a:ext cx="108842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The </a:t>
            </a:r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Projection Algorithm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 is the method used by the DBMS to: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Extract only required columns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Remove duplicate rows (if required)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Store or display the result efficiently</a:t>
            </a:r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Example – SQL : SELECT Name FROM Student WHERE Marks &gt; 80;</a:t>
            </a:r>
          </a:p>
          <a:p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Relational Algebra Representation: 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</a:rPr>
              <a:t>π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Name ( 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</a:rPr>
              <a:t>σ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Marks &gt; 80 (Student) )</a:t>
            </a:r>
          </a:p>
        </p:txBody>
      </p:sp>
    </p:spTree>
    <p:extLst>
      <p:ext uri="{BB962C8B-B14F-4D97-AF65-F5344CB8AC3E}">
        <p14:creationId xmlns:p14="http://schemas.microsoft.com/office/powerpoint/2010/main" val="269785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Example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 relational algebra → operator tree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8610" y="2028663"/>
            <a:ext cx="4812030" cy="28062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/>
              <a:t>SQL-</a:t>
            </a:r>
          </a:p>
          <a:p>
            <a:pPr marL="0" indent="0">
              <a:buNone/>
            </a:pPr>
            <a:r>
              <a:rPr lang="en-US" sz="1800" dirty="0"/>
              <a:t>SELECT Dept, AVG(Marks) FROM Student WHERE Marks &gt; 80 GROUP BY Dept ORDER BY Dept;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Relational algebra –</a:t>
            </a:r>
          </a:p>
          <a:p>
            <a:pPr marL="0" indent="0">
              <a:buNone/>
            </a:pPr>
            <a:r>
              <a:rPr lang="en-US" sz="1800" dirty="0"/>
              <a:t>SORT Dept (</a:t>
            </a:r>
            <a:r>
              <a:rPr lang="el-GR" sz="1800" dirty="0"/>
              <a:t>γ </a:t>
            </a:r>
            <a:r>
              <a:rPr lang="en-US" sz="1800" dirty="0"/>
              <a:t>Dept, AVG(Marks) (</a:t>
            </a:r>
            <a:r>
              <a:rPr lang="el-GR" sz="1800" dirty="0"/>
              <a:t>σ </a:t>
            </a:r>
            <a:r>
              <a:rPr lang="en-US" sz="1800" dirty="0"/>
              <a:t>Marks &gt; 80 (Student) 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Final Output-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23560" y="2475738"/>
            <a:ext cx="6134100" cy="414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2000" dirty="0"/>
              <a:t>Execution Flow-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/>
              <a:t>STUDENT TABLE</a:t>
            </a:r>
          </a:p>
          <a:p>
            <a:pPr>
              <a:buSzPct val="100000"/>
            </a:pPr>
            <a:r>
              <a:rPr lang="en-US" sz="2000" dirty="0"/>
              <a:t>     ↓</a:t>
            </a:r>
          </a:p>
          <a:p>
            <a:pPr>
              <a:buSzPct val="100000"/>
            </a:pPr>
            <a:r>
              <a:rPr lang="en-US" sz="2000" dirty="0"/>
              <a:t>Selection (Marks &gt; 80)</a:t>
            </a:r>
          </a:p>
          <a:p>
            <a:pPr>
              <a:buSzPct val="100000"/>
            </a:pPr>
            <a:r>
              <a:rPr lang="en-US" sz="2000" dirty="0"/>
              <a:t>     ↓</a:t>
            </a:r>
          </a:p>
          <a:p>
            <a:pPr>
              <a:buSzPct val="100000"/>
            </a:pPr>
            <a:r>
              <a:rPr lang="en-US" sz="2000" dirty="0"/>
              <a:t>Projection (Dept, Marks)</a:t>
            </a:r>
          </a:p>
          <a:p>
            <a:pPr>
              <a:buSzPct val="100000"/>
            </a:pPr>
            <a:r>
              <a:rPr lang="en-US" sz="2000" dirty="0"/>
              <a:t>     ↓</a:t>
            </a:r>
          </a:p>
          <a:p>
            <a:pPr>
              <a:buSzPct val="100000"/>
            </a:pPr>
            <a:r>
              <a:rPr lang="en-US" sz="2000" dirty="0"/>
              <a:t>External Merge Sort (Dept)</a:t>
            </a:r>
          </a:p>
          <a:p>
            <a:pPr>
              <a:buSzPct val="100000"/>
            </a:pPr>
            <a:r>
              <a:rPr lang="en-US" sz="2000" dirty="0"/>
              <a:t>     ↓</a:t>
            </a:r>
          </a:p>
          <a:p>
            <a:pPr>
              <a:buSzPct val="100000"/>
            </a:pPr>
            <a:r>
              <a:rPr lang="en-US" sz="2000" dirty="0"/>
              <a:t>GROUP BY Dept + AVG</a:t>
            </a:r>
          </a:p>
          <a:p>
            <a:pPr>
              <a:buSzPct val="100000"/>
            </a:pPr>
            <a:r>
              <a:rPr lang="en-US" sz="2000" dirty="0"/>
              <a:t>     ↓</a:t>
            </a:r>
          </a:p>
          <a:p>
            <a:pPr>
              <a:buSzPct val="100000"/>
            </a:pPr>
            <a:r>
              <a:rPr lang="en-US" sz="2000" dirty="0"/>
              <a:t>Final Result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EC730B-1741-0BCC-DCC1-D3ACE16E8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547557"/>
              </p:ext>
            </p:extLst>
          </p:nvPr>
        </p:nvGraphicFramePr>
        <p:xfrm>
          <a:off x="434340" y="4991321"/>
          <a:ext cx="3703320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44710">
                  <a:extLst>
                    <a:ext uri="{9D8B030D-6E8A-4147-A177-3AD203B41FA5}">
                      <a16:colId xmlns:a16="http://schemas.microsoft.com/office/drawing/2014/main" val="825241164"/>
                    </a:ext>
                  </a:extLst>
                </a:gridCol>
                <a:gridCol w="2058610">
                  <a:extLst>
                    <a:ext uri="{9D8B030D-6E8A-4147-A177-3AD203B41FA5}">
                      <a16:colId xmlns:a16="http://schemas.microsoft.com/office/drawing/2014/main" val="147973478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r>
                        <a:rPr lang="en-IN" sz="1800"/>
                        <a:t>Dept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AVG (Marks)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2460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86.67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6045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92.00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487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1">
            <a:extLst>
              <a:ext uri="{FF2B5EF4-FFF2-40B4-BE49-F238E27FC236}">
                <a16:creationId xmlns:a16="http://schemas.microsoft.com/office/drawing/2014/main" id="{F696CEB7-EF99-83B2-E2F8-2865FC9FF5D8}"/>
              </a:ext>
            </a:extLst>
          </p:cNvPr>
          <p:cNvSpPr/>
          <p:nvPr/>
        </p:nvSpPr>
        <p:spPr>
          <a:xfrm>
            <a:off x="9079078" y="2816352"/>
            <a:ext cx="207248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2. Join algorithms </a:t>
            </a: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(⋈)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62890" y="2172063"/>
            <a:ext cx="6469380" cy="39086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 algn="just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combines rows from two tables using a condition.</a:t>
            </a:r>
            <a:endParaRPr lang="en-US" sz="2200" dirty="0"/>
          </a:p>
          <a:p>
            <a:pPr marL="355600" indent="-355600" algn="just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</a:p>
          <a:p>
            <a:pPr algn="just">
              <a:buSzPct val="100000"/>
            </a:pPr>
            <a:endParaRPr lang="en-US" sz="2200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buSzPct val="100000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(match keys and merge columns).</a:t>
            </a:r>
            <a:endParaRPr lang="en-US" sz="2200" dirty="0"/>
          </a:p>
          <a:p>
            <a:pPr marL="355600" indent="-355600" algn="just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are expensive because they can compare many pairs of rows.</a:t>
            </a:r>
            <a:endParaRPr lang="en-US" sz="2200" dirty="0"/>
          </a:p>
          <a:p>
            <a:pPr marL="355600" indent="-355600" algn="just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reduce disk I/O and avoid unnecessary comparisons.</a:t>
            </a:r>
            <a:endParaRPr lang="en-US" sz="22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1BBBE42B-7227-C132-50CC-0C91FDB938E9}"/>
              </a:ext>
            </a:extLst>
          </p:cNvPr>
          <p:cNvSpPr/>
          <p:nvPr/>
        </p:nvSpPr>
        <p:spPr>
          <a:xfrm>
            <a:off x="7006590" y="2816352"/>
            <a:ext cx="207248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FD9C0259-934A-7667-1F8D-8B25A75F6333}"/>
              </a:ext>
            </a:extLst>
          </p:cNvPr>
          <p:cNvSpPr/>
          <p:nvPr/>
        </p:nvSpPr>
        <p:spPr>
          <a:xfrm>
            <a:off x="7006590" y="2862072"/>
            <a:ext cx="20724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6F3F3FC9-CE64-909B-9869-F520FC833EA1}"/>
              </a:ext>
            </a:extLst>
          </p:cNvPr>
          <p:cNvSpPr/>
          <p:nvPr/>
        </p:nvSpPr>
        <p:spPr>
          <a:xfrm>
            <a:off x="9170518" y="2862072"/>
            <a:ext cx="20724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52AD978A-250C-161C-5BBC-0131BF999443}"/>
              </a:ext>
            </a:extLst>
          </p:cNvPr>
          <p:cNvSpPr/>
          <p:nvPr/>
        </p:nvSpPr>
        <p:spPr>
          <a:xfrm>
            <a:off x="7189470" y="3319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</a:t>
            </a:r>
            <a:endParaRPr lang="en-US" sz="12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78A52E13-F452-22C8-CD2C-C026D4D6D190}"/>
              </a:ext>
            </a:extLst>
          </p:cNvPr>
          <p:cNvSpPr/>
          <p:nvPr/>
        </p:nvSpPr>
        <p:spPr>
          <a:xfrm>
            <a:off x="9353398" y="3502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</a:t>
            </a:r>
            <a:endParaRPr lang="en-US" sz="12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C93258FD-20A8-476F-0415-FF80FE91C3D6}"/>
              </a:ext>
            </a:extLst>
          </p:cNvPr>
          <p:cNvSpPr/>
          <p:nvPr/>
        </p:nvSpPr>
        <p:spPr>
          <a:xfrm>
            <a:off x="8012430" y="3438144"/>
            <a:ext cx="1249528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3C026CD6-2E1D-2DF8-813F-3BA3C4B2D54F}"/>
              </a:ext>
            </a:extLst>
          </p:cNvPr>
          <p:cNvSpPr/>
          <p:nvPr/>
        </p:nvSpPr>
        <p:spPr>
          <a:xfrm>
            <a:off x="7189470" y="3776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</a:t>
            </a:r>
            <a:endParaRPr lang="en-US" sz="120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534026BB-E0D0-4A66-49FB-73E1BE400336}"/>
              </a:ext>
            </a:extLst>
          </p:cNvPr>
          <p:cNvSpPr/>
          <p:nvPr/>
        </p:nvSpPr>
        <p:spPr>
          <a:xfrm>
            <a:off x="9353398" y="3959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</a:t>
            </a:r>
            <a:endParaRPr lang="en-US" sz="1200" dirty="0"/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65E59345-BB73-DE75-00F7-52658915BF53}"/>
              </a:ext>
            </a:extLst>
          </p:cNvPr>
          <p:cNvSpPr/>
          <p:nvPr/>
        </p:nvSpPr>
        <p:spPr>
          <a:xfrm>
            <a:off x="8012430" y="3895344"/>
            <a:ext cx="1249528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A5B9E14D-438F-8309-2C42-F8DD69D55B95}"/>
              </a:ext>
            </a:extLst>
          </p:cNvPr>
          <p:cNvSpPr/>
          <p:nvPr/>
        </p:nvSpPr>
        <p:spPr>
          <a:xfrm>
            <a:off x="7189470" y="4233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1200" dirty="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755D8082-952E-CDFE-36DA-3831E672266F}"/>
              </a:ext>
            </a:extLst>
          </p:cNvPr>
          <p:cNvSpPr/>
          <p:nvPr/>
        </p:nvSpPr>
        <p:spPr>
          <a:xfrm>
            <a:off x="9353398" y="4416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1200" dirty="0"/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A5C1CFE9-17E2-F2D9-15AD-709B513F7E8F}"/>
              </a:ext>
            </a:extLst>
          </p:cNvPr>
          <p:cNvSpPr/>
          <p:nvPr/>
        </p:nvSpPr>
        <p:spPr>
          <a:xfrm>
            <a:off x="8012430" y="4352544"/>
            <a:ext cx="1249528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D0DE9FB2-BE79-AD12-D013-8796A6BA6FEB}"/>
              </a:ext>
            </a:extLst>
          </p:cNvPr>
          <p:cNvSpPr/>
          <p:nvPr/>
        </p:nvSpPr>
        <p:spPr>
          <a:xfrm>
            <a:off x="7189470" y="46908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</a:t>
            </a:r>
            <a:endParaRPr lang="en-US" sz="1200" dirty="0"/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1DB2E79B-60B2-21B6-CEE2-9E51E6E96CD6}"/>
              </a:ext>
            </a:extLst>
          </p:cNvPr>
          <p:cNvSpPr/>
          <p:nvPr/>
        </p:nvSpPr>
        <p:spPr>
          <a:xfrm>
            <a:off x="9353398" y="4873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</a:t>
            </a:r>
            <a:endParaRPr lang="en-US" sz="1200" dirty="0"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E501F974-9E68-09E0-9B52-E20F10A9D4AA}"/>
              </a:ext>
            </a:extLst>
          </p:cNvPr>
          <p:cNvSpPr/>
          <p:nvPr/>
        </p:nvSpPr>
        <p:spPr>
          <a:xfrm>
            <a:off x="8012430" y="4809744"/>
            <a:ext cx="1249528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DD404B29-2E83-C90E-9134-3850620A61AD}"/>
              </a:ext>
            </a:extLst>
          </p:cNvPr>
          <p:cNvSpPr/>
          <p:nvPr/>
        </p:nvSpPr>
        <p:spPr>
          <a:xfrm>
            <a:off x="7189470" y="5148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1200" dirty="0"/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619612CB-3F9F-42DC-D9ED-E6C4CC2F7AD2}"/>
              </a:ext>
            </a:extLst>
          </p:cNvPr>
          <p:cNvSpPr/>
          <p:nvPr/>
        </p:nvSpPr>
        <p:spPr>
          <a:xfrm>
            <a:off x="9353398" y="5330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1200" dirty="0"/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94E12956-89EB-0C4B-8AA7-86E68A78B733}"/>
              </a:ext>
            </a:extLst>
          </p:cNvPr>
          <p:cNvSpPr/>
          <p:nvPr/>
        </p:nvSpPr>
        <p:spPr>
          <a:xfrm>
            <a:off x="8012430" y="5266944"/>
            <a:ext cx="1249528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04E717-F74D-B53A-BE87-229C6E5E204D}"/>
              </a:ext>
            </a:extLst>
          </p:cNvPr>
          <p:cNvSpPr txBox="1"/>
          <p:nvPr/>
        </p:nvSpPr>
        <p:spPr>
          <a:xfrm>
            <a:off x="6783577" y="6044184"/>
            <a:ext cx="4591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algorithms decide how to find these matches efficiently.</a:t>
            </a:r>
            <a:endParaRPr lang="en-US" sz="1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6895224E-A94B-77D5-70D9-0D927E319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4530" y="2953512"/>
            <a:ext cx="3966210" cy="548640"/>
          </a:xfrm>
          <a:prstGeom prst="rect">
            <a:avLst/>
          </a:prstGeom>
        </p:spPr>
      </p:pic>
      <p:sp>
        <p:nvSpPr>
          <p:cNvPr id="30" name="Text 2">
            <a:extLst>
              <a:ext uri="{FF2B5EF4-FFF2-40B4-BE49-F238E27FC236}">
                <a16:creationId xmlns:a16="http://schemas.microsoft.com/office/drawing/2014/main" id="{E41CC913-BEA1-829E-7745-C5F708819905}"/>
              </a:ext>
            </a:extLst>
          </p:cNvPr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Join algorithm and pipelining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Nested-Loop Join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can be slow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2188754"/>
            <a:ext cx="4640580" cy="25658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for each tuple r in R, scan all tuples s in S and test the join condition.</a:t>
            </a:r>
            <a:endParaRPr lang="en-US" sz="24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when one table is very small.</a:t>
            </a:r>
            <a:endParaRPr lang="en-US" sz="24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nested-loop: read a block of R into memory, then scan S once per block.</a:t>
            </a:r>
            <a:endParaRPr lang="en-US" sz="24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repeated I/O compared to tuple-at-a-time loops.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DB649-0664-E7BF-68A4-6636FB0810B7}"/>
              </a:ext>
            </a:extLst>
          </p:cNvPr>
          <p:cNvSpPr txBox="1"/>
          <p:nvPr/>
        </p:nvSpPr>
        <p:spPr>
          <a:xfrm>
            <a:off x="5332098" y="2455301"/>
            <a:ext cx="63322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Algorithm - 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for each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 tuple 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t</a:t>
            </a:r>
            <a:r>
              <a:rPr lang="en-US" altLang="en-US" sz="2000" i="1" baseline="-25000" dirty="0">
                <a:ea typeface="ＭＳ Ｐゴシック" panose="020B0600070205080204" pitchFamily="34" charset="-128"/>
                <a:sym typeface="Symbol" pitchFamily="2" charset="2"/>
              </a:rPr>
              <a:t>r</a:t>
            </a: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 in 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r</a:t>
            </a: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 do begin</a:t>
            </a:r>
            <a:b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</a:b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	for each tuple </a:t>
            </a:r>
            <a:r>
              <a:rPr lang="en-US" altLang="en-US" sz="2000" i="1" dirty="0" err="1">
                <a:ea typeface="ＭＳ Ｐゴシック" panose="020B0600070205080204" pitchFamily="34" charset="-128"/>
                <a:sym typeface="Symbol" pitchFamily="2" charset="2"/>
              </a:rPr>
              <a:t>t</a:t>
            </a:r>
            <a:r>
              <a:rPr lang="en-US" altLang="en-US" sz="2000" i="1" baseline="-25000" dirty="0" err="1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 in 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 do begin</a:t>
            </a:r>
            <a:b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</a:b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		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test pair (</a:t>
            </a:r>
            <a:r>
              <a:rPr lang="en-US" altLang="en-US" sz="2000" i="1" dirty="0" err="1">
                <a:ea typeface="ＭＳ Ｐゴシック" panose="020B0600070205080204" pitchFamily="34" charset="-128"/>
                <a:sym typeface="Symbol" pitchFamily="2" charset="2"/>
              </a:rPr>
              <a:t>t</a:t>
            </a:r>
            <a:r>
              <a:rPr lang="en-US" altLang="en-US" sz="2000" i="1" baseline="-25000" dirty="0" err="1">
                <a:ea typeface="ＭＳ Ｐゴシック" panose="020B0600070205080204" pitchFamily="34" charset="-128"/>
                <a:sym typeface="Symbol" pitchFamily="2" charset="2"/>
              </a:rPr>
              <a:t>r</a:t>
            </a:r>
            <a:r>
              <a:rPr lang="en-US" altLang="en-US" sz="2000" i="1" dirty="0" err="1">
                <a:ea typeface="ＭＳ Ｐゴシック" panose="020B0600070205080204" pitchFamily="34" charset="-128"/>
                <a:sym typeface="Symbol" pitchFamily="2" charset="2"/>
              </a:rPr>
              <a:t>,t</a:t>
            </a:r>
            <a:r>
              <a:rPr lang="en-US" altLang="en-US" sz="2000" i="1" baseline="-25000" dirty="0" err="1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) to see if they satisfy the join condition </a:t>
            </a:r>
            <a:r>
              <a:rPr lang="en-US" altLang="en-US" sz="2000" i="1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en-US" sz="2000" dirty="0">
                <a:ea typeface="ＭＳ Ｐゴシック" panose="020B0600070205080204" pitchFamily="34" charset="-128"/>
                <a:sym typeface="Greek Symbols" pitchFamily="18" charset="2"/>
              </a:rPr>
              <a:t>		if they do, add </a:t>
            </a:r>
            <a:r>
              <a:rPr lang="en-US" altLang="en-US" sz="2000" i="1" dirty="0">
                <a:ea typeface="ＭＳ Ｐゴシック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sz="2000" i="1" baseline="-25000" dirty="0">
                <a:ea typeface="ＭＳ Ｐゴシック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sz="2000" i="1" dirty="0">
                <a:ea typeface="ＭＳ Ｐゴシック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sz="2000" i="1" dirty="0" err="1">
                <a:ea typeface="ＭＳ Ｐゴシック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sz="2000" i="1" baseline="-25000" dirty="0" err="1">
                <a:ea typeface="ＭＳ Ｐゴシック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sz="2000" dirty="0">
                <a:ea typeface="ＭＳ Ｐゴシック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en-US" sz="2000" dirty="0">
                <a:ea typeface="ＭＳ Ｐゴシック" panose="020B0600070205080204" pitchFamily="34" charset="-128"/>
                <a:sym typeface="Greek Symbols" pitchFamily="18" charset="2"/>
              </a:rPr>
              <a:t>	</a:t>
            </a:r>
            <a:r>
              <a:rPr lang="en-US" altLang="en-US" sz="2000" b="1" dirty="0">
                <a:ea typeface="ＭＳ Ｐゴシック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sz="2000" b="1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en-US" sz="2000" b="1" dirty="0">
                <a:ea typeface="ＭＳ Ｐゴシック" panose="020B0600070205080204" pitchFamily="34" charset="-128"/>
                <a:sym typeface="Greek Symbols" pitchFamily="18" charset="2"/>
              </a:rPr>
              <a:t>end</a:t>
            </a:r>
            <a:endParaRPr lang="en-US" altLang="en-US" sz="2000" dirty="0">
              <a:ea typeface="ＭＳ Ｐゴシック" panose="020B0600070205080204" pitchFamily="34" charset="-128"/>
              <a:sym typeface="Greek Symbols" pitchFamily="18" charset="2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6D7098F-F7F6-ECB3-DCDD-521298F83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092" y="5448758"/>
            <a:ext cx="4331908" cy="4216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1BD3E7-3A41-5149-48BF-677754963C56}"/>
              </a:ext>
            </a:extLst>
          </p:cNvPr>
          <p:cNvSpPr txBox="1"/>
          <p:nvPr/>
        </p:nvSpPr>
        <p:spPr>
          <a:xfrm>
            <a:off x="5332098" y="5370470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cost (rough)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8C1C10-AE68-CA95-9906-F7574CED78F8}"/>
              </a:ext>
            </a:extLst>
          </p:cNvPr>
          <p:cNvSpPr txBox="1"/>
          <p:nvPr/>
        </p:nvSpPr>
        <p:spPr>
          <a:xfrm>
            <a:off x="273255" y="2276344"/>
            <a:ext cx="55827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Student.Name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Enrollment.Course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Student, Enrollment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Student.Roll_No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Enrollment.Roll_No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E0227-F317-B2BA-964E-0574549E2FD1}"/>
              </a:ext>
            </a:extLst>
          </p:cNvPr>
          <p:cNvSpPr txBox="1"/>
          <p:nvPr/>
        </p:nvSpPr>
        <p:spPr>
          <a:xfrm>
            <a:off x="4081883" y="4911838"/>
            <a:ext cx="40282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Student = (2, Kim)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with (1, DBMS) → no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with (1, OS) → no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with (2, DBMS) → match ✔</a:t>
            </a:r>
          </a:p>
          <a:p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Student = (3, Tam)</a:t>
            </a:r>
          </a:p>
          <a:p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Compared with all → no match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BA591-F4FE-6A00-21E5-89BDD173E34D}"/>
              </a:ext>
            </a:extLst>
          </p:cNvPr>
          <p:cNvSpPr txBox="1"/>
          <p:nvPr/>
        </p:nvSpPr>
        <p:spPr>
          <a:xfrm>
            <a:off x="273255" y="3571649"/>
            <a:ext cx="4251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Student = (1, Nhi)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Compare with (1, DBMS) → match ✔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Compare with (1, OS) → match ✔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Compare with (2, DBMS) → no match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94F732-7FB3-D5FE-DAD2-B93381987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457950"/>
              </p:ext>
            </p:extLst>
          </p:nvPr>
        </p:nvGraphicFramePr>
        <p:xfrm>
          <a:off x="8722996" y="3995958"/>
          <a:ext cx="2221228" cy="1584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10614">
                  <a:extLst>
                    <a:ext uri="{9D8B030D-6E8A-4147-A177-3AD203B41FA5}">
                      <a16:colId xmlns:a16="http://schemas.microsoft.com/office/drawing/2014/main" val="4003186831"/>
                    </a:ext>
                  </a:extLst>
                </a:gridCol>
                <a:gridCol w="1110614">
                  <a:extLst>
                    <a:ext uri="{9D8B030D-6E8A-4147-A177-3AD203B41FA5}">
                      <a16:colId xmlns:a16="http://schemas.microsoft.com/office/drawing/2014/main" val="1462513301"/>
                    </a:ext>
                  </a:extLst>
                </a:gridCol>
              </a:tblGrid>
              <a:tr h="269305">
                <a:tc>
                  <a:txBody>
                    <a:bodyPr/>
                    <a:lstStyle/>
                    <a:p>
                      <a:r>
                        <a:rPr lang="en-IN" sz="2000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Course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187605"/>
                  </a:ext>
                </a:extLst>
              </a:tr>
              <a:tr h="269305">
                <a:tc>
                  <a:txBody>
                    <a:bodyPr/>
                    <a:lstStyle/>
                    <a:p>
                      <a:r>
                        <a:rPr lang="en-IN" sz="2000" dirty="0"/>
                        <a:t>Nhi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DBMS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782370"/>
                  </a:ext>
                </a:extLst>
              </a:tr>
              <a:tr h="269305">
                <a:tc>
                  <a:txBody>
                    <a:bodyPr/>
                    <a:lstStyle/>
                    <a:p>
                      <a:r>
                        <a:rPr lang="en-IN" sz="2000" dirty="0"/>
                        <a:t>Kim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175310"/>
                  </a:ext>
                </a:extLst>
              </a:tr>
              <a:tr h="269305">
                <a:tc>
                  <a:txBody>
                    <a:bodyPr/>
                    <a:lstStyle/>
                    <a:p>
                      <a:r>
                        <a:rPr lang="en-IN" sz="2000" dirty="0"/>
                        <a:t>Tam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DBMS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1966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9CE9BA9-120F-F020-E687-8E96185D0D37}"/>
              </a:ext>
            </a:extLst>
          </p:cNvPr>
          <p:cNvSpPr txBox="1"/>
          <p:nvPr/>
        </p:nvSpPr>
        <p:spPr>
          <a:xfrm>
            <a:off x="8579283" y="3386983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73612-0B19-F1CB-31CE-E0692CC12655}"/>
              </a:ext>
            </a:extLst>
          </p:cNvPr>
          <p:cNvSpPr txBox="1"/>
          <p:nvPr/>
        </p:nvSpPr>
        <p:spPr>
          <a:xfrm>
            <a:off x="720090" y="564180"/>
            <a:ext cx="6806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Nested-Loop Join - 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357087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Nested-Loop Join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index to find matches quickly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0050" y="2263503"/>
            <a:ext cx="6297930" cy="39086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 has an index on the join key, for each r in R we can look up matching rows in S.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R is small OR the index lookup is very selective.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OLTP systems with many indexes.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Downside: many random I/Os if lookups are not selective.</a:t>
            </a:r>
            <a:endParaRPr lang="en-US" sz="22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5B4B39A-F82C-D6D1-5764-490A86079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50" y="4796028"/>
            <a:ext cx="5695950" cy="4960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C3DB6A-2D21-8196-9A75-A484B6B7252D}"/>
              </a:ext>
            </a:extLst>
          </p:cNvPr>
          <p:cNvSpPr txBox="1"/>
          <p:nvPr/>
        </p:nvSpPr>
        <p:spPr>
          <a:xfrm>
            <a:off x="6809423" y="2624435"/>
            <a:ext cx="51692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algorithm works ?</a:t>
            </a:r>
          </a:p>
          <a:p>
            <a:r>
              <a:rPr lang="en-US" dirty="0"/>
              <a:t>FOR each row in STUDENT: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   Use index on MARKS to find matching </a:t>
            </a:r>
            <a:r>
              <a:rPr lang="en-US" dirty="0" err="1"/>
              <a:t>Roll_No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   JOIN the rows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A0932-A4A1-F349-740A-52AE3F776C00}"/>
              </a:ext>
            </a:extLst>
          </p:cNvPr>
          <p:cNvSpPr txBox="1"/>
          <p:nvPr/>
        </p:nvSpPr>
        <p:spPr>
          <a:xfrm>
            <a:off x="6809423" y="4050612"/>
            <a:ext cx="45034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- </a:t>
            </a:r>
          </a:p>
          <a:p>
            <a:r>
              <a:rPr lang="en-US" dirty="0"/>
              <a:t>SELECT </a:t>
            </a:r>
            <a:r>
              <a:rPr lang="en-US" dirty="0" err="1"/>
              <a:t>Student.Name</a:t>
            </a:r>
            <a:r>
              <a:rPr lang="en-US" dirty="0"/>
              <a:t>, </a:t>
            </a:r>
            <a:r>
              <a:rPr lang="en-US" dirty="0" err="1"/>
              <a:t>Marks.Marks</a:t>
            </a:r>
            <a:endParaRPr lang="en-US" dirty="0"/>
          </a:p>
          <a:p>
            <a:r>
              <a:rPr lang="en-US" dirty="0"/>
              <a:t>FROM Student</a:t>
            </a:r>
          </a:p>
          <a:p>
            <a:r>
              <a:rPr lang="en-US" dirty="0"/>
              <a:t>JOIN Marks</a:t>
            </a:r>
          </a:p>
          <a:p>
            <a:r>
              <a:rPr lang="en-US" dirty="0"/>
              <a:t>ON </a:t>
            </a:r>
            <a:r>
              <a:rPr lang="en-US" dirty="0" err="1"/>
              <a:t>Student.Roll_No</a:t>
            </a:r>
            <a:r>
              <a:rPr lang="en-US" dirty="0"/>
              <a:t> = </a:t>
            </a:r>
            <a:r>
              <a:rPr lang="en-US" dirty="0" err="1"/>
              <a:t>Marks.Roll_No</a:t>
            </a:r>
            <a:r>
              <a:rPr lang="en-US" dirty="0"/>
              <a:t>;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819C10-C604-2406-B547-E838A9251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89534"/>
              </p:ext>
            </p:extLst>
          </p:nvPr>
        </p:nvGraphicFramePr>
        <p:xfrm>
          <a:off x="1430657" y="5623560"/>
          <a:ext cx="2415540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07770">
                  <a:extLst>
                    <a:ext uri="{9D8B030D-6E8A-4147-A177-3AD203B41FA5}">
                      <a16:colId xmlns:a16="http://schemas.microsoft.com/office/drawing/2014/main" val="2126274033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37868896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6507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6171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Anu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09469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B7D43CA-D1F0-5C5A-DD30-7C1196DBE981}"/>
              </a:ext>
            </a:extLst>
          </p:cNvPr>
          <p:cNvSpPr txBox="1"/>
          <p:nvPr/>
        </p:nvSpPr>
        <p:spPr>
          <a:xfrm>
            <a:off x="400050" y="5438894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7C8F8-3D3E-2BEF-E7B8-51E61F073571}"/>
              </a:ext>
            </a:extLst>
          </p:cNvPr>
          <p:cNvSpPr txBox="1"/>
          <p:nvPr/>
        </p:nvSpPr>
        <p:spPr>
          <a:xfrm>
            <a:off x="662940" y="594360"/>
            <a:ext cx="24721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Hash Join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0B251-A74F-CC66-ACF0-8C60AF78837E}"/>
              </a:ext>
            </a:extLst>
          </p:cNvPr>
          <p:cNvSpPr txBox="1"/>
          <p:nvPr/>
        </p:nvSpPr>
        <p:spPr>
          <a:xfrm>
            <a:off x="351472" y="2324576"/>
            <a:ext cx="607218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Applicable for </a:t>
            </a:r>
            <a:r>
              <a:rPr lang="en-US" altLang="en-US" dirty="0" err="1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equi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-joins and natural joins.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A hash function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h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is used to partition tuples of both relations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h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maps </a:t>
            </a:r>
            <a:r>
              <a:rPr lang="en-US" alt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JoinAttrs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values to {0, 1, ..., 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}, where </a:t>
            </a:r>
            <a:r>
              <a:rPr lang="en-US" alt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JoinAttrs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denotes the common attributes of 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and 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s 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used in the natural join.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en-US" i="1" dirty="0">
                <a:ea typeface="ＭＳ Ｐゴシック" panose="020B0600070205080204" pitchFamily="34" charset="-128"/>
              </a:rPr>
              <a:t>, r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i="1" dirty="0">
                <a:ea typeface="ＭＳ Ｐゴシック" panose="020B0600070205080204" pitchFamily="34" charset="-128"/>
              </a:rPr>
              <a:t>, . . .,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r</a:t>
            </a:r>
            <a:r>
              <a:rPr lang="en-US" altLang="en-US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denote partitions of </a:t>
            </a:r>
            <a:r>
              <a:rPr lang="en-US" altLang="en-US" i="1" dirty="0">
                <a:ea typeface="ＭＳ Ｐゴシック" panose="020B0600070205080204" pitchFamily="34" charset="-128"/>
              </a:rPr>
              <a:t>r </a:t>
            </a:r>
            <a:r>
              <a:rPr lang="en-US" altLang="en-US" dirty="0">
                <a:ea typeface="ＭＳ Ｐゴシック" panose="020B0600070205080204" pitchFamily="34" charset="-128"/>
              </a:rPr>
              <a:t>tuples, each tuple </a:t>
            </a:r>
            <a:r>
              <a:rPr lang="en-US" altLang="en-US" i="1" dirty="0">
                <a:ea typeface="ＭＳ Ｐゴシック" panose="020B0600070205080204" pitchFamily="34" charset="-128"/>
              </a:rPr>
              <a:t>t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r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 r 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is put in partition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r</a:t>
            </a:r>
            <a:r>
              <a:rPr lang="en-US" altLang="en-US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 where 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 = h(t</a:t>
            </a:r>
            <a:r>
              <a:rPr lang="en-US" altLang="en-US" i="1" baseline="-25000" dirty="0">
                <a:ea typeface="ＭＳ Ｐゴシック" panose="020B0600070205080204" pitchFamily="34" charset="-128"/>
                <a:sym typeface="Symbol" pitchFamily="2" charset="2"/>
              </a:rPr>
              <a:t>r 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[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JoinAttrs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]).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</a:rPr>
              <a:t>,, s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i="1" dirty="0">
                <a:ea typeface="ＭＳ Ｐゴシック" panose="020B0600070205080204" pitchFamily="34" charset="-128"/>
              </a:rPr>
              <a:t>. . .,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s</a:t>
            </a:r>
            <a:r>
              <a:rPr lang="en-US" altLang="en-US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denotes partitions of </a:t>
            </a:r>
            <a:r>
              <a:rPr lang="en-US" altLang="en-US" i="1" dirty="0">
                <a:ea typeface="ＭＳ Ｐゴシック" panose="020B0600070205080204" pitchFamily="34" charset="-128"/>
              </a:rPr>
              <a:t>s</a:t>
            </a:r>
            <a:r>
              <a:rPr lang="en-US" altLang="en-US" dirty="0">
                <a:ea typeface="ＭＳ Ｐゴシック" panose="020B0600070205080204" pitchFamily="34" charset="-128"/>
              </a:rPr>
              <a:t> tuples, each tuple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t</a:t>
            </a:r>
            <a:r>
              <a:rPr lang="en-US" altLang="en-US" i="1" baseline="-25000" dirty="0" err="1">
                <a:ea typeface="ＭＳ Ｐゴシック" panose="020B0600070205080204" pitchFamily="34" charset="-128"/>
              </a:rPr>
              <a:t>s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 is put in partition 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i="1" baseline="-25000" dirty="0" err="1"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, where 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 = h(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t</a:t>
            </a:r>
            <a:r>
              <a:rPr lang="en-US" altLang="en-US" i="1" baseline="-25000" dirty="0" err="1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i="1" baseline="-25000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[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JoinAttrs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]).</a:t>
            </a: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ea typeface="ＭＳ Ｐゴシック" panose="020B0600070205080204" pitchFamily="34" charset="-128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memory to hold build side (or use partitioning)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-120"/>
              </a:rPr>
              <a:t>Cost in memory -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43BF8F4-9184-AC50-3D29-996CCCA34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340" y="2058128"/>
            <a:ext cx="3939540" cy="3960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43D915-73F2-EEBE-2AF5-6944D6F6CCDA}"/>
              </a:ext>
            </a:extLst>
          </p:cNvPr>
          <p:cNvSpPr txBox="1"/>
          <p:nvPr/>
        </p:nvSpPr>
        <p:spPr>
          <a:xfrm>
            <a:off x="8181812" y="6149340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Hash partitioning of relations</a:t>
            </a: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83521DD-4ADE-DEEF-1A03-79FF44EC1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2288" y="5964674"/>
            <a:ext cx="3477875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26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 vs Hash Join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widely used join algorithms</a:t>
            </a:r>
            <a:endParaRPr lang="en-US" sz="16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C70330-49AA-5D09-060A-DA49AE074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027040"/>
              </p:ext>
            </p:extLst>
          </p:nvPr>
        </p:nvGraphicFramePr>
        <p:xfrm>
          <a:off x="1141254" y="2720340"/>
          <a:ext cx="9879012" cy="3566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3004">
                  <a:extLst>
                    <a:ext uri="{9D8B030D-6E8A-4147-A177-3AD203B41FA5}">
                      <a16:colId xmlns:a16="http://schemas.microsoft.com/office/drawing/2014/main" val="2488056898"/>
                    </a:ext>
                  </a:extLst>
                </a:gridCol>
                <a:gridCol w="3293004">
                  <a:extLst>
                    <a:ext uri="{9D8B030D-6E8A-4147-A177-3AD203B41FA5}">
                      <a16:colId xmlns:a16="http://schemas.microsoft.com/office/drawing/2014/main" val="324173732"/>
                    </a:ext>
                  </a:extLst>
                </a:gridCol>
                <a:gridCol w="3293004">
                  <a:extLst>
                    <a:ext uri="{9D8B030D-6E8A-4147-A177-3AD203B41FA5}">
                      <a16:colId xmlns:a16="http://schemas.microsoft.com/office/drawing/2014/main" val="1286552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Nested Loop Join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Hash Join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524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Working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Compares rows one by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Uses hash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536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Slow for large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Very 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73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Index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86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Small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Large 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03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Memory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778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Join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Any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Equality only (=)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1653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(Streaming)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0045" y="2895092"/>
            <a:ext cx="10801350" cy="3562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model</a:t>
            </a: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each operator produces the next tuple on demand (next()).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</a:t>
            </a: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pass tuples directly from one operator to the next (no full intermediate table).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US" altLang="en-US" sz="2000" dirty="0">
                <a:ea typeface="ＭＳ Ｐゴシック" panose="020B0600070205080204" pitchFamily="34" charset="-128"/>
              </a:rPr>
              <a:t>Pipelines can be executed in two ways:  demand driven and producer driven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Materialization</a:t>
            </a: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write intermediate results to disk/temp table (slower, but sometimes required).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breaks: sort, hash build phase, or blocking aggregates often need full input.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85750" y="5250947"/>
            <a:ext cx="5474970" cy="11155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pipeline: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→ Filter (σ) → Project (π) → Output</a:t>
            </a:r>
          </a:p>
          <a:p>
            <a:pPr marL="0" indent="0">
              <a:buNone/>
            </a:pPr>
            <a:endParaRPr lang="en-US" sz="1600" dirty="0">
              <a:solidFill>
                <a:srgbClr val="111111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600" dirty="0"/>
              <a:t>SELECT Name FROM Student WHERE Marks &gt; 80;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6D532D8-8267-0C10-4527-571119F6562D}"/>
              </a:ext>
            </a:extLst>
          </p:cNvPr>
          <p:cNvSpPr txBox="1">
            <a:spLocks noChangeArrowheads="1"/>
          </p:cNvSpPr>
          <p:nvPr/>
        </p:nvSpPr>
        <p:spPr>
          <a:xfrm>
            <a:off x="811532" y="2496086"/>
            <a:ext cx="10847068" cy="4179030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1943" lvl="1" indent="0">
              <a:lnSpc>
                <a:spcPct val="90000"/>
              </a:lnSpc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Each operation is implemented as an </a:t>
            </a:r>
            <a:r>
              <a:rPr lang="en-US" altLang="en-US" sz="2000" b="1" dirty="0">
                <a:solidFill>
                  <a:srgbClr val="3366CC"/>
                </a:solidFill>
                <a:ea typeface="ＭＳ Ｐゴシック" panose="020B0600070205080204" pitchFamily="34" charset="-128"/>
              </a:rPr>
              <a:t>iterator </a:t>
            </a:r>
            <a:r>
              <a:rPr lang="en-US" altLang="en-US" sz="2000" dirty="0">
                <a:ea typeface="ＭＳ Ｐゴシック" panose="020B0600070205080204" pitchFamily="34" charset="-128"/>
              </a:rPr>
              <a:t>implementing the following operations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ea typeface="ＭＳ Ｐゴシック" panose="020B0600070205080204" pitchFamily="34" charset="-128"/>
              </a:rPr>
              <a:t>open()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file scan: initialize file scan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state: pointer to beginning of file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merge join: sort relations;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state: pointers to beginning of sorted relations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ea typeface="ＭＳ Ｐゴシック" panose="020B0600070205080204" pitchFamily="34" charset="-128"/>
              </a:rPr>
              <a:t>next()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for file scan: Output next tuple, and advance and store file pointer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for merge join:  continue with merge from earlier state till 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next output tuple is found.  Save pointers as iterator state.</a:t>
            </a:r>
          </a:p>
          <a:p>
            <a:pPr marL="627063" lvl="2" indent="0">
              <a:lnSpc>
                <a:spcPct val="90000"/>
              </a:lnSpc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close()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CAD5C-505B-B7F4-DEE2-AD1C41CD69EC}"/>
              </a:ext>
            </a:extLst>
          </p:cNvPr>
          <p:cNvSpPr txBox="1"/>
          <p:nvPr/>
        </p:nvSpPr>
        <p:spPr>
          <a:xfrm>
            <a:off x="571090" y="651510"/>
            <a:ext cx="11049820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4400" b="1" dirty="0"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</a:rPr>
              <a:t>Implementation of demand-driven pipelining</a:t>
            </a:r>
          </a:p>
        </p:txBody>
      </p:sp>
    </p:spTree>
    <p:extLst>
      <p:ext uri="{BB962C8B-B14F-4D97-AF65-F5344CB8AC3E}">
        <p14:creationId xmlns:p14="http://schemas.microsoft.com/office/powerpoint/2010/main" val="3976989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What is Query Optimization?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Query optimization 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844800"/>
            <a:ext cx="10744200" cy="364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chooses a good plan among many equivalent plans.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optimization: rewrite query without changing meaning (</a:t>
            </a: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rules</a:t>
            </a: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optimization: pick access paths + join algorithms + join order.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styles: rule-based (heuristics) and cost-based (use a cost model).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Heuristic Rules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rules that often help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9555" y="2320305"/>
            <a:ext cx="11510010" cy="4217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selections down: apply σ as early as possible (reduce rows early).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projections down: keep only needed columns (reduce row width).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selections:  </a:t>
            </a:r>
            <a:r>
              <a:rPr lang="el-GR" sz="2000" dirty="0"/>
              <a:t>σ</a:t>
            </a:r>
            <a:r>
              <a:rPr lang="en-US" sz="2000" baseline="-25000" dirty="0"/>
              <a:t>c1</a:t>
            </a:r>
            <a:r>
              <a:rPr lang="en-IN" sz="2000" dirty="0"/>
              <a:t> ​​(</a:t>
            </a:r>
            <a:r>
              <a:rPr lang="el-GR" sz="2000" dirty="0"/>
              <a:t>σ</a:t>
            </a:r>
            <a:r>
              <a:rPr lang="en-US" sz="2000" baseline="-25000" dirty="0"/>
              <a:t>c2</a:t>
            </a:r>
            <a:r>
              <a:rPr lang="en-IN" sz="2000" dirty="0"/>
              <a:t> (R))→</a:t>
            </a:r>
            <a:r>
              <a:rPr lang="el-GR" sz="2000" dirty="0"/>
              <a:t>σ</a:t>
            </a:r>
            <a:r>
              <a:rPr lang="en-US" sz="2000" baseline="-25000" dirty="0"/>
              <a:t>c2</a:t>
            </a:r>
            <a:r>
              <a:rPr lang="en-IN" sz="2000" dirty="0"/>
              <a:t> ​∧ </a:t>
            </a:r>
            <a:r>
              <a:rPr lang="en-IN" sz="2000" baseline="-25000" dirty="0"/>
              <a:t>c2</a:t>
            </a:r>
            <a:r>
              <a:rPr lang="en-IN" sz="2000" dirty="0"/>
              <a:t> ​​(R)</a:t>
            </a:r>
            <a:endParaRPr lang="en-US" sz="20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joins (when safe): join smaller / filtered relations first.</a:t>
            </a:r>
          </a:p>
          <a:p>
            <a:pPr marL="355600" indent="-355600">
              <a:buSzPct val="100000"/>
              <a:buChar char="•"/>
            </a:pPr>
            <a:r>
              <a:rPr lang="en-IN" sz="2000" dirty="0"/>
              <a:t>Replace Cartesian Products: Use joins with conditions instead of cross products.</a:t>
            </a:r>
          </a:p>
          <a:p>
            <a:pPr marL="355600" indent="-355600">
              <a:buSzPct val="100000"/>
              <a:buChar char="•"/>
            </a:pPr>
            <a:r>
              <a:rPr lang="en-IN" sz="2000" dirty="0"/>
              <a:t>Query Tree: a graphical representation of the operators, relations, attributes and predicates and processing sequence during query processing. It is composed of three main parts:</a:t>
            </a:r>
          </a:p>
          <a:p>
            <a:pPr marL="800100" lvl="1" indent="-342900">
              <a:buSzPct val="100000"/>
              <a:buFont typeface="Wingdings" pitchFamily="2" charset="2"/>
              <a:buChar char="Ø"/>
            </a:pPr>
            <a:r>
              <a:rPr lang="en-IN" sz="2000" dirty="0"/>
              <a:t>The </a:t>
            </a:r>
            <a:r>
              <a:rPr lang="en-IN" sz="2000" dirty="0" err="1"/>
              <a:t>Leafs</a:t>
            </a:r>
            <a:r>
              <a:rPr lang="en-IN" sz="2000" dirty="0"/>
              <a:t>: the base relations used for processing the query/ extracting the required information.</a:t>
            </a:r>
          </a:p>
          <a:p>
            <a:pPr marL="800100" lvl="1" indent="-342900">
              <a:buSzPct val="100000"/>
              <a:buFont typeface="Wingdings" pitchFamily="2" charset="2"/>
              <a:buChar char="Ø"/>
            </a:pPr>
            <a:r>
              <a:rPr lang="en-IN" sz="2000" dirty="0"/>
              <a:t>The Root: the final result/relation as an output based on the operation on the relations used for query processing</a:t>
            </a:r>
          </a:p>
          <a:p>
            <a:pPr marL="800100" lvl="1" indent="-342900">
              <a:buSzPct val="100000"/>
              <a:buFont typeface="Wingdings" pitchFamily="2" charset="2"/>
              <a:buChar char="Ø"/>
            </a:pPr>
            <a:r>
              <a:rPr lang="en-IN" sz="2000" dirty="0"/>
              <a:t>Nodes: intermediate results or relations before reaching the final result.</a:t>
            </a:r>
          </a:p>
          <a:p>
            <a:pPr marL="800100" lvl="1" indent="-342900">
              <a:buSzPct val="100000"/>
              <a:buFont typeface="Wingdings" pitchFamily="2" charset="2"/>
              <a:buChar char="Ø"/>
            </a:pPr>
            <a:r>
              <a:rPr lang="en-IN" sz="2000" dirty="0"/>
              <a:t>Sequence of execution of operation in a query tree will start from the leaves and continues to the intermediate nodes and ends at the root.</a:t>
            </a:r>
          </a:p>
          <a:p>
            <a:pPr>
              <a:buSzPct val="100000"/>
            </a:pPr>
            <a:endParaRPr lang="en-IN" sz="2000" dirty="0"/>
          </a:p>
          <a:p>
            <a:pPr>
              <a:buSzPct val="100000"/>
            </a:pPr>
            <a:endParaRPr lang="en-IN" sz="2000" dirty="0"/>
          </a:p>
          <a:p>
            <a:pPr>
              <a:buSzPct val="100000"/>
            </a:pPr>
            <a:endParaRPr lang="en-IN" sz="2000" dirty="0"/>
          </a:p>
          <a:p>
            <a:pPr>
              <a:buSzPct val="100000"/>
            </a:pPr>
            <a:endParaRPr lang="en-IN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984E1-14BD-5D88-8D21-F6B283A259B7}"/>
              </a:ext>
            </a:extLst>
          </p:cNvPr>
          <p:cNvSpPr txBox="1"/>
          <p:nvPr/>
        </p:nvSpPr>
        <p:spPr>
          <a:xfrm>
            <a:off x="295751" y="2274838"/>
            <a:ext cx="64936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IN" sz="1800" dirty="0"/>
              <a:t>Example-</a:t>
            </a:r>
          </a:p>
          <a:p>
            <a:pPr>
              <a:buSzPct val="100000"/>
            </a:pPr>
            <a:r>
              <a:rPr lang="en-IN" sz="1800" b="1" dirty="0"/>
              <a:t>Before optimization</a:t>
            </a:r>
            <a:endParaRPr lang="en-US" sz="1800" b="1" dirty="0"/>
          </a:p>
          <a:p>
            <a:pPr>
              <a:buSzPct val="100000"/>
            </a:pPr>
            <a:r>
              <a:rPr lang="en-IN" sz="1800" dirty="0"/>
              <a:t>SELECT </a:t>
            </a:r>
            <a:r>
              <a:rPr lang="en-IN" sz="1800" dirty="0" err="1"/>
              <a:t>E.name</a:t>
            </a:r>
            <a:r>
              <a:rPr lang="en-IN" dirty="0"/>
              <a:t> </a:t>
            </a:r>
            <a:r>
              <a:rPr lang="en-IN" sz="1800" dirty="0"/>
              <a:t>FROM Employee E, Department D</a:t>
            </a:r>
          </a:p>
          <a:p>
            <a:pPr>
              <a:buSzPct val="100000"/>
            </a:pPr>
            <a:r>
              <a:rPr lang="en-IN" sz="1800" dirty="0"/>
              <a:t>WHERE </a:t>
            </a:r>
            <a:r>
              <a:rPr lang="en-IN" sz="1800" dirty="0" err="1"/>
              <a:t>E.dept_id</a:t>
            </a:r>
            <a:r>
              <a:rPr lang="en-IN" sz="1800" dirty="0"/>
              <a:t> = </a:t>
            </a:r>
            <a:r>
              <a:rPr lang="en-IN" sz="1800" dirty="0" err="1"/>
              <a:t>D.dept_id</a:t>
            </a:r>
            <a:r>
              <a:rPr lang="en-IN" dirty="0"/>
              <a:t> </a:t>
            </a:r>
            <a:r>
              <a:rPr lang="en-IN" sz="1800" dirty="0"/>
              <a:t>AND </a:t>
            </a:r>
            <a:r>
              <a:rPr lang="en-IN" sz="1800" dirty="0" err="1"/>
              <a:t>D.location</a:t>
            </a:r>
            <a:r>
              <a:rPr lang="en-IN" sz="1800" dirty="0"/>
              <a:t> = ‘Binh </a:t>
            </a:r>
            <a:r>
              <a:rPr lang="en-IN" sz="1800" dirty="0" err="1"/>
              <a:t>Doung</a:t>
            </a:r>
            <a:r>
              <a:rPr lang="en-IN" sz="1800" dirty="0"/>
              <a:t>’;</a:t>
            </a:r>
          </a:p>
          <a:p>
            <a:pPr>
              <a:buSzPct val="100000"/>
            </a:pPr>
            <a:endParaRPr lang="en-IN" b="1" dirty="0"/>
          </a:p>
          <a:p>
            <a:r>
              <a:rPr lang="en-IN" b="1" dirty="0"/>
              <a:t>Problem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Cartesian product produces huge intermediate results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Selection is applied too late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A3401-DAC6-ADBD-9AAF-6FDEF104DEE0}"/>
              </a:ext>
            </a:extLst>
          </p:cNvPr>
          <p:cNvSpPr txBox="1"/>
          <p:nvPr/>
        </p:nvSpPr>
        <p:spPr>
          <a:xfrm>
            <a:off x="235745" y="5364838"/>
            <a:ext cx="6097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After Optimization</a:t>
            </a:r>
          </a:p>
          <a:p>
            <a:endParaRPr lang="en-US" b="1" dirty="0"/>
          </a:p>
          <a:p>
            <a:r>
              <a:rPr lang="en-US" dirty="0"/>
              <a:t>SELECT </a:t>
            </a:r>
            <a:r>
              <a:rPr lang="en-US" dirty="0" err="1"/>
              <a:t>E.name</a:t>
            </a:r>
            <a:r>
              <a:rPr lang="en-US" dirty="0"/>
              <a:t> FROM Employee E JOIN Department D ON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r>
              <a:rPr lang="en-US" dirty="0"/>
              <a:t> WHERE </a:t>
            </a:r>
            <a:r>
              <a:rPr lang="en-US" dirty="0" err="1"/>
              <a:t>D.location</a:t>
            </a:r>
            <a:r>
              <a:rPr lang="en-US" dirty="0"/>
              <a:t> = '</a:t>
            </a:r>
            <a:r>
              <a:rPr lang="en-IN" sz="1800" dirty="0"/>
              <a:t> Binh </a:t>
            </a:r>
            <a:r>
              <a:rPr lang="en-IN" sz="1800" dirty="0" err="1"/>
              <a:t>Doung</a:t>
            </a:r>
            <a:r>
              <a:rPr lang="en-IN" sz="1800" dirty="0"/>
              <a:t> </a:t>
            </a:r>
            <a:r>
              <a:rPr lang="en-US" dirty="0"/>
              <a:t>';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4EBBD4-53D1-EAB0-BAA9-D0B1F74D1438}"/>
              </a:ext>
            </a:extLst>
          </p:cNvPr>
          <p:cNvSpPr txBox="1"/>
          <p:nvPr/>
        </p:nvSpPr>
        <p:spPr>
          <a:xfrm>
            <a:off x="6789420" y="2303116"/>
            <a:ext cx="39662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π name</a:t>
            </a:r>
          </a:p>
          <a:p>
            <a:r>
              <a:rPr lang="en-US" dirty="0"/>
              <a:t>          |</a:t>
            </a:r>
          </a:p>
          <a:p>
            <a:r>
              <a:rPr lang="en-US" dirty="0"/>
              <a:t>        ⋈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endParaRPr lang="en-US" dirty="0"/>
          </a:p>
          <a:p>
            <a:r>
              <a:rPr lang="en-US" dirty="0"/>
              <a:t>        /           \</a:t>
            </a:r>
          </a:p>
          <a:p>
            <a:r>
              <a:rPr lang="en-US" dirty="0"/>
              <a:t> Employee      </a:t>
            </a:r>
            <a:r>
              <a:rPr lang="en-US" dirty="0" err="1"/>
              <a:t>σ</a:t>
            </a:r>
            <a:r>
              <a:rPr lang="en-US" dirty="0"/>
              <a:t> location='</a:t>
            </a:r>
            <a:r>
              <a:rPr lang="en-IN" sz="1800" dirty="0"/>
              <a:t> Binh </a:t>
            </a:r>
            <a:r>
              <a:rPr lang="en-IN" sz="1800" dirty="0" err="1"/>
              <a:t>Doung</a:t>
            </a:r>
            <a:r>
              <a:rPr lang="en-IN" sz="1800" dirty="0"/>
              <a:t> </a:t>
            </a:r>
            <a:r>
              <a:rPr lang="en-US" dirty="0"/>
              <a:t>'</a:t>
            </a:r>
          </a:p>
          <a:p>
            <a:r>
              <a:rPr lang="en-US" dirty="0"/>
              <a:t>                    |</a:t>
            </a:r>
          </a:p>
          <a:p>
            <a:r>
              <a:rPr lang="en-US" dirty="0"/>
              <a:t>                Department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0C12C-C20B-7336-A951-14F8B47663CD}"/>
              </a:ext>
            </a:extLst>
          </p:cNvPr>
          <p:cNvSpPr txBox="1"/>
          <p:nvPr/>
        </p:nvSpPr>
        <p:spPr>
          <a:xfrm>
            <a:off x="697230" y="685800"/>
            <a:ext cx="40991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Example </a:t>
            </a:r>
            <a:r>
              <a:rPr lang="en-US" sz="4400" b="1" dirty="0" err="1">
                <a:solidFill>
                  <a:schemeClr val="bg1"/>
                </a:solidFill>
                <a:latin typeface="+mj-lt"/>
              </a:rPr>
              <a:t>Cont</a:t>
            </a:r>
            <a:r>
              <a:rPr lang="en-US" sz="4400" b="1" dirty="0">
                <a:solidFill>
                  <a:schemeClr val="bg1"/>
                </a:solidFill>
                <a:latin typeface="+mj-lt"/>
              </a:rPr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A42C8C-FF62-C0E8-2730-B92356BB2072}"/>
              </a:ext>
            </a:extLst>
          </p:cNvPr>
          <p:cNvSpPr txBox="1"/>
          <p:nvPr/>
        </p:nvSpPr>
        <p:spPr>
          <a:xfrm>
            <a:off x="6333649" y="4931748"/>
            <a:ext cx="60979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 tree –</a:t>
            </a:r>
          </a:p>
          <a:p>
            <a:r>
              <a:rPr lang="en-US" dirty="0"/>
              <a:t>π name</a:t>
            </a:r>
          </a:p>
          <a:p>
            <a:r>
              <a:rPr lang="en-US" dirty="0"/>
              <a:t>          |</a:t>
            </a:r>
          </a:p>
          <a:p>
            <a:r>
              <a:rPr lang="en-US" dirty="0"/>
              <a:t>     </a:t>
            </a:r>
            <a:r>
              <a:rPr lang="en-US" dirty="0" err="1"/>
              <a:t>σ</a:t>
            </a:r>
            <a:r>
              <a:rPr lang="en-US" dirty="0"/>
              <a:t>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r>
              <a:rPr lang="en-US" dirty="0"/>
              <a:t> AND </a:t>
            </a:r>
            <a:r>
              <a:rPr lang="en-US" dirty="0" err="1"/>
              <a:t>D.location</a:t>
            </a:r>
            <a:r>
              <a:rPr lang="en-US" dirty="0"/>
              <a:t>='</a:t>
            </a:r>
            <a:r>
              <a:rPr lang="en-IN" sz="1800" dirty="0"/>
              <a:t> Binh </a:t>
            </a:r>
            <a:r>
              <a:rPr lang="en-IN" sz="1800" dirty="0" err="1"/>
              <a:t>Doung</a:t>
            </a:r>
            <a:r>
              <a:rPr lang="en-IN" sz="1800" dirty="0"/>
              <a:t> </a:t>
            </a:r>
            <a:r>
              <a:rPr lang="en-US" dirty="0"/>
              <a:t>'</a:t>
            </a:r>
          </a:p>
          <a:p>
            <a:r>
              <a:rPr lang="en-US" dirty="0"/>
              <a:t>          |</a:t>
            </a:r>
          </a:p>
          <a:p>
            <a:r>
              <a:rPr lang="en-US" dirty="0"/>
              <a:t>       Employee × Department</a:t>
            </a:r>
          </a:p>
        </p:txBody>
      </p:sp>
    </p:spTree>
    <p:extLst>
      <p:ext uri="{BB962C8B-B14F-4D97-AF65-F5344CB8AC3E}">
        <p14:creationId xmlns:p14="http://schemas.microsoft.com/office/powerpoint/2010/main" val="1829211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Example (Push Selection)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result, usually faster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40834"/>
            <a:ext cx="10744200" cy="23025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(conceptual):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⋈ S  then  σ_{R.x &gt; 10}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Rewrite: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(σ_{R.x &gt; 10}(R)) ⋈ 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10744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R first shrinks the join input.</a:t>
            </a:r>
            <a:endParaRPr lang="en-US" sz="2000" dirty="0"/>
          </a:p>
          <a:p>
            <a:pPr marL="355600" indent="-3556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data enters the join → fewer comparisons and less I/O.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Aids (Indexes &amp; Views)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uses what exists in storage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76938"/>
            <a:ext cx="10744200" cy="38153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can turn scans into fast lookups (B+ tree, hash index).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index: table stored in index order (good for ranges).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view: precomputed result stored on disk.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Partitioning: split table to scan only relevant parts.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806440"/>
            <a:ext cx="10744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chooses plans based on available indexes/views + estimated benefit.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&amp; Selectivity (Basics)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guide the optimizer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744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stores stats: #rows, #pages, distinct values, histograms.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estimates how many rows pass a predicate.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assumptions: uniform distribution and independence (not always true).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stats → better plan choices (especially for join order).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715000"/>
            <a:ext cx="10744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attribute A has V distinct values, sel(A = c) ≈ 1 / V (uniform).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Cost-Based Optimization (CBO)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Cost-based optimization and execution plans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3900" y="2262642"/>
            <a:ext cx="10744200" cy="41495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picks the plan with the lowest estimated cost.</a:t>
            </a:r>
            <a:endParaRPr lang="en-US" sz="2000" dirty="0"/>
          </a:p>
          <a:p>
            <a:pPr marL="355600" indent="-3556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usually dominated by disk I/O, then CPU, </a:t>
            </a:r>
            <a:r>
              <a:rPr lang="en-IN" sz="2000" dirty="0"/>
              <a:t>Network cost (in distributed databases), </a:t>
            </a: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memory.</a:t>
            </a:r>
            <a:endParaRPr lang="en-US" sz="2000" dirty="0"/>
          </a:p>
          <a:p>
            <a:pPr marL="355600" indent="-3556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uses table/index statistics to estimate: cardinalities and costs.</a:t>
            </a:r>
            <a:endParaRPr lang="en-US" sz="2000" dirty="0"/>
          </a:p>
          <a:p>
            <a:pPr marL="355600" indent="-3556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plan is an execution plan (physical operator tree).</a:t>
            </a:r>
          </a:p>
          <a:p>
            <a:pPr marL="355600" indent="-355600">
              <a:buSzPct val="100000"/>
              <a:buChar char="•"/>
            </a:pPr>
            <a:r>
              <a:rPr lang="en-IN" sz="2000" dirty="0"/>
              <a:t>Highly efficient and Adapts to data size and distribution</a:t>
            </a:r>
          </a:p>
          <a:p>
            <a:endParaRPr lang="en-IN" b="1" dirty="0"/>
          </a:p>
          <a:p>
            <a:r>
              <a:rPr lang="en-IN" b="1" dirty="0"/>
              <a:t>Techniques Used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Evaluates multiple query plans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Uses statistics about tables and indexes</a:t>
            </a:r>
          </a:p>
          <a:p>
            <a:r>
              <a:rPr lang="en-IN" dirty="0"/>
              <a:t>Chooses optimal: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IN" dirty="0"/>
              <a:t>Join order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IN" dirty="0"/>
              <a:t>Join method (Nested Loop, Hash Join, Merge Join)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IN" dirty="0"/>
              <a:t>Access path (Index scan vs. Table scan)</a:t>
            </a:r>
          </a:p>
          <a:p>
            <a:pPr>
              <a:buSzPct val="100000"/>
            </a:pP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Cost Model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exact—just useful for comparisons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2255884"/>
            <a:ext cx="10744200" cy="3219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I/O Cost : </a:t>
            </a:r>
            <a:r>
              <a:rPr lang="en-IN" dirty="0"/>
              <a:t>Represents the cost of reading and writing data pages from disk. Since disk access is slow, I/O cost is usually the largest contributor to total cost.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dirty="0"/>
              <a:t>I/O cost = Number of page reads / writes × Cost per I/O operation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dirty="0"/>
              <a:t>CPU Cost: Represents the processing cost of evaluating tuples (rows). Includes comparisons, joins, filtering, and aggregation.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IN" dirty="0"/>
              <a:t>CPU cost = Number of tuples processed × Cost per tuple operation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Memory Cost (Impact): Memory is not always counted directly. </a:t>
            </a:r>
          </a:p>
          <a:p>
            <a:r>
              <a:rPr lang="en-IN" dirty="0"/>
              <a:t>If sufficient memory is available: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IN" dirty="0"/>
              <a:t>Operations like sorting and hashing stay in memory → </a:t>
            </a:r>
            <a:r>
              <a:rPr lang="en-IN" b="1" dirty="0"/>
              <a:t>lower I/O cost</a:t>
            </a:r>
            <a:endParaRPr lang="en-IN" dirty="0"/>
          </a:p>
          <a:p>
            <a:r>
              <a:rPr lang="en-IN" dirty="0"/>
              <a:t>If memory is insufficient: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IN" dirty="0"/>
              <a:t>Intermediate results are written to disk → </a:t>
            </a:r>
            <a:r>
              <a:rPr lang="en-IN" b="1" dirty="0"/>
              <a:t>higher I/O cost</a:t>
            </a:r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pPr marL="355600" indent="-355600">
              <a:buSzPct val="100000"/>
              <a:buChar char="•"/>
            </a:pP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4E41E-02DC-BA7D-2EB7-9859E8B079C3}"/>
              </a:ext>
            </a:extLst>
          </p:cNvPr>
          <p:cNvSpPr txBox="1"/>
          <p:nvPr/>
        </p:nvSpPr>
        <p:spPr>
          <a:xfrm>
            <a:off x="396240" y="5499932"/>
            <a:ext cx="5821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total cost of an execution plan is often estimated using:</a:t>
            </a:r>
          </a:p>
          <a:p>
            <a:endParaRPr lang="en-IN" dirty="0"/>
          </a:p>
          <a:p>
            <a:r>
              <a:rPr lang="en-IN" dirty="0"/>
              <a:t>Cost(plan) = (N</a:t>
            </a:r>
            <a:r>
              <a:rPr lang="en-IN" baseline="-25000" dirty="0"/>
              <a:t>IO</a:t>
            </a:r>
            <a:r>
              <a:rPr lang="en-IN" dirty="0"/>
              <a:t> ×</a:t>
            </a:r>
            <a:r>
              <a:rPr lang="en-IN" dirty="0" err="1"/>
              <a:t>t</a:t>
            </a:r>
            <a:r>
              <a:rPr lang="en-IN" baseline="-25000" dirty="0" err="1"/>
              <a:t>IO</a:t>
            </a:r>
            <a:r>
              <a:rPr lang="en-IN" dirty="0"/>
              <a:t>) + (N</a:t>
            </a:r>
            <a:r>
              <a:rPr lang="en-IN" baseline="-25000" dirty="0"/>
              <a:t>CPU</a:t>
            </a:r>
            <a:r>
              <a:rPr lang="en-IN" dirty="0"/>
              <a:t> × </a:t>
            </a:r>
            <a:r>
              <a:rPr lang="en-IN" dirty="0" err="1"/>
              <a:t>t</a:t>
            </a:r>
            <a:r>
              <a:rPr lang="en-IN" baseline="-25000" dirty="0" err="1"/>
              <a:t>CPU</a:t>
            </a:r>
            <a:r>
              <a:rPr lang="en-IN" dirty="0"/>
              <a:t>​)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1CA48-1125-0CB0-B115-E1C3E8C575DA}"/>
              </a:ext>
            </a:extLst>
          </p:cNvPr>
          <p:cNvSpPr txBox="1"/>
          <p:nvPr/>
        </p:nvSpPr>
        <p:spPr>
          <a:xfrm>
            <a:off x="7605713" y="5186648"/>
            <a:ext cx="45862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Where</a:t>
            </a:r>
          </a:p>
          <a:p>
            <a:r>
              <a:rPr lang="en-IN" dirty="0"/>
              <a:t>N</a:t>
            </a:r>
            <a:r>
              <a:rPr lang="en-IN" baseline="-25000" dirty="0"/>
              <a:t>IO</a:t>
            </a:r>
            <a:r>
              <a:rPr lang="en-IN" dirty="0"/>
              <a:t>​ = Number of page I/O operations</a:t>
            </a:r>
          </a:p>
          <a:p>
            <a:r>
              <a:rPr lang="en-IN" dirty="0" err="1"/>
              <a:t>t</a:t>
            </a:r>
            <a:r>
              <a:rPr lang="en-IN" baseline="-25000" dirty="0" err="1"/>
              <a:t>IO</a:t>
            </a:r>
            <a:r>
              <a:rPr lang="en-IN" dirty="0"/>
              <a:t>  = Time per I/O operation</a:t>
            </a:r>
          </a:p>
          <a:p>
            <a:r>
              <a:rPr lang="en-IN" dirty="0"/>
              <a:t>N</a:t>
            </a:r>
            <a:r>
              <a:rPr lang="en-IN" baseline="-25000" dirty="0"/>
              <a:t>CPU</a:t>
            </a:r>
            <a:r>
              <a:rPr lang="en-IN" dirty="0"/>
              <a:t> = Number of tuple (row) operations</a:t>
            </a:r>
          </a:p>
          <a:p>
            <a:r>
              <a:rPr lang="en-IN" dirty="0" err="1"/>
              <a:t>t</a:t>
            </a:r>
            <a:r>
              <a:rPr lang="en-IN" baseline="-25000" dirty="0" err="1"/>
              <a:t>CPU</a:t>
            </a:r>
            <a:r>
              <a:rPr lang="en-IN" dirty="0"/>
              <a:t> = Time per CPU operation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160112-3DC5-4FDB-C04F-675E065FDCE6}"/>
              </a:ext>
            </a:extLst>
          </p:cNvPr>
          <p:cNvSpPr txBox="1"/>
          <p:nvPr/>
        </p:nvSpPr>
        <p:spPr>
          <a:xfrm>
            <a:off x="362903" y="1995785"/>
            <a:ext cx="35690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Assume</a:t>
            </a:r>
          </a:p>
          <a:p>
            <a:r>
              <a:rPr lang="en-IN" dirty="0"/>
              <a:t>Employee has 1,000 rows</a:t>
            </a:r>
          </a:p>
          <a:p>
            <a:r>
              <a:rPr lang="en-IN" dirty="0"/>
              <a:t>Department has 10 rows</a:t>
            </a:r>
          </a:p>
          <a:p>
            <a:r>
              <a:rPr lang="en-IN" dirty="0"/>
              <a:t>Index exists on </a:t>
            </a:r>
            <a:r>
              <a:rPr lang="en-IN" dirty="0" err="1"/>
              <a:t>Employee.dept_id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5658C-7A55-1FDD-53AF-C8E8D7DBF49F}"/>
              </a:ext>
            </a:extLst>
          </p:cNvPr>
          <p:cNvSpPr txBox="1"/>
          <p:nvPr/>
        </p:nvSpPr>
        <p:spPr>
          <a:xfrm>
            <a:off x="662940" y="617220"/>
            <a:ext cx="82926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Cost Based Optimization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B82C8-117D-658D-35F2-55E17BD01500}"/>
              </a:ext>
            </a:extLst>
          </p:cNvPr>
          <p:cNvSpPr txBox="1"/>
          <p:nvPr/>
        </p:nvSpPr>
        <p:spPr>
          <a:xfrm>
            <a:off x="362903" y="3216474"/>
            <a:ext cx="48948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Query -</a:t>
            </a:r>
          </a:p>
          <a:p>
            <a:r>
              <a:rPr lang="en-US" dirty="0"/>
              <a:t>SELECT name, </a:t>
            </a:r>
            <a:r>
              <a:rPr lang="en-US" dirty="0" err="1"/>
              <a:t>dept_name</a:t>
            </a:r>
            <a:r>
              <a:rPr lang="en-US" dirty="0"/>
              <a:t> FROM Employee E, Department D WHERE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r>
              <a:rPr lang="en-US" dirty="0"/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C69994-F09A-DE9B-1D11-C3855B799BEF}"/>
              </a:ext>
            </a:extLst>
          </p:cNvPr>
          <p:cNvSpPr txBox="1"/>
          <p:nvPr/>
        </p:nvSpPr>
        <p:spPr>
          <a:xfrm>
            <a:off x="362903" y="4160164"/>
            <a:ext cx="60979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Possible Execution Plans</a:t>
            </a:r>
          </a:p>
          <a:p>
            <a:r>
              <a:rPr lang="en-IN" dirty="0"/>
              <a:t>Plan 1: Nested Loop Join (Employee → Department)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Outer table: Employee (1,000 rows)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Inner table: Department (10 rows)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Cost ≈ 1,000 × 10 = 10,000 comparisons</a:t>
            </a:r>
          </a:p>
          <a:p>
            <a:r>
              <a:rPr lang="en-IN" dirty="0"/>
              <a:t>Plan 2: Index Join (Department → Employee)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Outer table: Department (10 rows)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Use index on </a:t>
            </a:r>
            <a:r>
              <a:rPr lang="en-IN" dirty="0" err="1"/>
              <a:t>Employee.dept_id</a:t>
            </a:r>
            <a:endParaRPr lang="en-IN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-IN" dirty="0"/>
              <a:t>Cost ≈ 10 index lookups = very 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0F7591-36A8-3512-606A-F0966B40934F}"/>
              </a:ext>
            </a:extLst>
          </p:cNvPr>
          <p:cNvSpPr txBox="1"/>
          <p:nvPr/>
        </p:nvSpPr>
        <p:spPr>
          <a:xfrm>
            <a:off x="5297995" y="2523530"/>
            <a:ext cx="65712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Optimizer chooses Plan 2 because it has lower estimated cost based on: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Table size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Index availability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/>
              <a:t>Number of comparisons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60C3E-179E-7CD9-A300-84EDCA3EB76C}"/>
              </a:ext>
            </a:extLst>
          </p:cNvPr>
          <p:cNvSpPr txBox="1"/>
          <p:nvPr/>
        </p:nvSpPr>
        <p:spPr>
          <a:xfrm>
            <a:off x="6096000" y="4163261"/>
            <a:ext cx="44300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⋈ (Index Join)</a:t>
            </a:r>
          </a:p>
          <a:p>
            <a:r>
              <a:rPr lang="en-US" dirty="0"/>
              <a:t>       /              \</a:t>
            </a:r>
          </a:p>
          <a:p>
            <a:r>
              <a:rPr lang="en-US" dirty="0"/>
              <a:t> Department       Employee (using index)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C0FB7DB-CD41-1AD4-6334-26ABC32F7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357926"/>
              </p:ext>
            </p:extLst>
          </p:nvPr>
        </p:nvGraphicFramePr>
        <p:xfrm>
          <a:off x="8955595" y="5166244"/>
          <a:ext cx="276987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84935">
                  <a:extLst>
                    <a:ext uri="{9D8B030D-6E8A-4147-A177-3AD203B41FA5}">
                      <a16:colId xmlns:a16="http://schemas.microsoft.com/office/drawing/2014/main" val="164043683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67024964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 err="1"/>
                        <a:t>Dept_name</a:t>
                      </a:r>
                      <a:endParaRPr lang="en-IN" sz="1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264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Kim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7787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 err="1"/>
                        <a:t>Nygen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9868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Tien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HR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1308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27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E1D2D-9BAE-D921-460A-768C1D60F3C5}"/>
              </a:ext>
            </a:extLst>
          </p:cNvPr>
          <p:cNvSpPr txBox="1"/>
          <p:nvPr/>
        </p:nvSpPr>
        <p:spPr>
          <a:xfrm>
            <a:off x="374333" y="2153126"/>
            <a:ext cx="56264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Assume the database system uses the following costs:</a:t>
            </a:r>
          </a:p>
          <a:p>
            <a:r>
              <a:rPr lang="en-IN" dirty="0"/>
              <a:t>Time per I/O operation</a:t>
            </a:r>
            <a:br>
              <a:rPr lang="en-IN" dirty="0"/>
            </a:br>
            <a:r>
              <a:rPr lang="en-IN" dirty="0" err="1"/>
              <a:t>t</a:t>
            </a:r>
            <a:r>
              <a:rPr lang="en-IN" baseline="-25000" dirty="0" err="1"/>
              <a:t>IO</a:t>
            </a:r>
            <a:r>
              <a:rPr lang="en-IN" baseline="-25000" dirty="0"/>
              <a:t> </a:t>
            </a:r>
            <a:r>
              <a:rPr lang="en-IN" dirty="0"/>
              <a:t>= 5 </a:t>
            </a:r>
            <a:r>
              <a:rPr lang="en-IN" dirty="0" err="1"/>
              <a:t>ms</a:t>
            </a:r>
            <a:r>
              <a:rPr lang="en-IN" dirty="0"/>
              <a:t> </a:t>
            </a:r>
          </a:p>
          <a:p>
            <a:r>
              <a:rPr lang="en-IN" dirty="0"/>
              <a:t>Time per CPU operation</a:t>
            </a:r>
            <a:br>
              <a:rPr lang="en-IN" dirty="0"/>
            </a:br>
            <a:r>
              <a:rPr lang="en-IN" dirty="0" err="1"/>
              <a:t>t</a:t>
            </a:r>
            <a:r>
              <a:rPr lang="en-IN" baseline="-25000" dirty="0" err="1"/>
              <a:t>CPU</a:t>
            </a:r>
            <a:r>
              <a:rPr lang="en-IN" dirty="0"/>
              <a:t> = 0.01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AE4F52-BAFD-688D-E27A-9350CCF25B62}"/>
              </a:ext>
            </a:extLst>
          </p:cNvPr>
          <p:cNvSpPr txBox="1"/>
          <p:nvPr/>
        </p:nvSpPr>
        <p:spPr>
          <a:xfrm>
            <a:off x="374333" y="3901916"/>
            <a:ext cx="60979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Plan A: Full Table Scan</a:t>
            </a:r>
          </a:p>
          <a:p>
            <a:r>
              <a:rPr lang="en-IN" dirty="0"/>
              <a:t>Number of page I/</a:t>
            </a:r>
            <a:r>
              <a:rPr lang="en-IN" dirty="0" err="1"/>
              <a:t>Os</a:t>
            </a:r>
            <a:br>
              <a:rPr lang="en-IN" dirty="0"/>
            </a:br>
            <a:r>
              <a:rPr lang="en-IN" dirty="0"/>
              <a:t>N</a:t>
            </a:r>
            <a:r>
              <a:rPr lang="en-IN" baseline="-25000" dirty="0"/>
              <a:t>IO</a:t>
            </a:r>
            <a:r>
              <a:rPr lang="en-IN" dirty="0"/>
              <a:t> =200</a:t>
            </a:r>
          </a:p>
          <a:p>
            <a:r>
              <a:rPr lang="en-IN" dirty="0"/>
              <a:t>Number of tuple operations</a:t>
            </a:r>
            <a:br>
              <a:rPr lang="en-IN" dirty="0"/>
            </a:br>
            <a:r>
              <a:rPr lang="en-IN" dirty="0"/>
              <a:t>N</a:t>
            </a:r>
            <a:r>
              <a:rPr lang="en-IN" baseline="-25000" dirty="0"/>
              <a:t>CPU</a:t>
            </a:r>
            <a:r>
              <a:rPr lang="en-IN" dirty="0"/>
              <a:t> = 10000</a:t>
            </a:r>
          </a:p>
          <a:p>
            <a:endParaRPr lang="en-IN" dirty="0"/>
          </a:p>
          <a:p>
            <a:r>
              <a:rPr lang="en-IN" dirty="0"/>
              <a:t>Sol: Cost(A)​ = (200×5) + (10,000×0.01) </a:t>
            </a:r>
          </a:p>
          <a:p>
            <a:r>
              <a:rPr lang="en-IN" dirty="0"/>
              <a:t>	      = 1,000 + 100 </a:t>
            </a:r>
          </a:p>
          <a:p>
            <a:r>
              <a:rPr lang="en-IN" dirty="0"/>
              <a:t>	      = 1,100 </a:t>
            </a:r>
            <a:r>
              <a:rPr lang="en-IN" dirty="0" err="1"/>
              <a:t>ms</a:t>
            </a:r>
            <a:r>
              <a:rPr lang="en-IN" dirty="0"/>
              <a:t>​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F8AD68-FEA4-BEB0-3319-A46599A49038}"/>
              </a:ext>
            </a:extLst>
          </p:cNvPr>
          <p:cNvSpPr txBox="1"/>
          <p:nvPr/>
        </p:nvSpPr>
        <p:spPr>
          <a:xfrm>
            <a:off x="7194234" y="2332255"/>
            <a:ext cx="3581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Plan B: Index Scan</a:t>
            </a:r>
          </a:p>
          <a:p>
            <a:r>
              <a:rPr lang="en-IN" dirty="0"/>
              <a:t>Number of page I/</a:t>
            </a:r>
            <a:r>
              <a:rPr lang="en-IN" dirty="0" err="1"/>
              <a:t>Os</a:t>
            </a:r>
            <a:br>
              <a:rPr lang="en-IN" dirty="0"/>
            </a:br>
            <a:r>
              <a:rPr lang="en-IN" dirty="0"/>
              <a:t>N</a:t>
            </a:r>
            <a:r>
              <a:rPr lang="en-IN" baseline="-25000" dirty="0"/>
              <a:t>IO</a:t>
            </a:r>
            <a:r>
              <a:rPr lang="en-IN" dirty="0"/>
              <a:t> = 50</a:t>
            </a:r>
          </a:p>
          <a:p>
            <a:r>
              <a:rPr lang="en-IN" dirty="0"/>
              <a:t>Number of tuple operations</a:t>
            </a:r>
            <a:br>
              <a:rPr lang="en-IN" dirty="0"/>
            </a:br>
            <a:r>
              <a:rPr lang="en-IN" dirty="0"/>
              <a:t>N</a:t>
            </a:r>
            <a:r>
              <a:rPr lang="en-IN" baseline="-25000" dirty="0"/>
              <a:t>CPU</a:t>
            </a:r>
            <a:r>
              <a:rPr lang="en-IN" dirty="0"/>
              <a:t> = 2,000</a:t>
            </a:r>
          </a:p>
          <a:p>
            <a:endParaRPr lang="en-IN" dirty="0"/>
          </a:p>
          <a:p>
            <a:r>
              <a:rPr lang="en-IN" dirty="0"/>
              <a:t>Sol:</a:t>
            </a:r>
          </a:p>
          <a:p>
            <a:r>
              <a:rPr lang="en-IN" dirty="0"/>
              <a:t>Cost(B) ​= (50×5) + (2,000×0.01) </a:t>
            </a:r>
          </a:p>
          <a:p>
            <a:r>
              <a:rPr lang="en-IN" dirty="0"/>
              <a:t>                = 250+20</a:t>
            </a:r>
          </a:p>
          <a:p>
            <a:r>
              <a:rPr lang="en-IN" dirty="0"/>
              <a:t>                =270 </a:t>
            </a:r>
            <a:r>
              <a:rPr lang="en-IN" dirty="0" err="1"/>
              <a:t>ms</a:t>
            </a:r>
            <a:r>
              <a:rPr lang="en-IN" dirty="0"/>
              <a:t>​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C501D7-E2E9-165C-F307-6E2C47C52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608248"/>
              </p:ext>
            </p:extLst>
          </p:nvPr>
        </p:nvGraphicFramePr>
        <p:xfrm>
          <a:off x="8236267" y="5461218"/>
          <a:ext cx="3581400" cy="1097280"/>
        </p:xfrm>
        <a:graphic>
          <a:graphicData uri="http://schemas.openxmlformats.org/drawingml/2006/table">
            <a:tbl>
              <a:tblPr/>
              <a:tblGrid>
                <a:gridCol w="1790700">
                  <a:extLst>
                    <a:ext uri="{9D8B030D-6E8A-4147-A177-3AD203B41FA5}">
                      <a16:colId xmlns:a16="http://schemas.microsoft.com/office/drawing/2014/main" val="2604381833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33436154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emp_id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3731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Kim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144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Nyugen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3338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0757316-B5D7-79FC-7803-0587BC061AEA}"/>
              </a:ext>
            </a:extLst>
          </p:cNvPr>
          <p:cNvSpPr txBox="1"/>
          <p:nvPr/>
        </p:nvSpPr>
        <p:spPr>
          <a:xfrm>
            <a:off x="457200" y="662940"/>
            <a:ext cx="44085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More Example….</a:t>
            </a:r>
          </a:p>
        </p:txBody>
      </p:sp>
    </p:spTree>
    <p:extLst>
      <p:ext uri="{BB962C8B-B14F-4D97-AF65-F5344CB8AC3E}">
        <p14:creationId xmlns:p14="http://schemas.microsoft.com/office/powerpoint/2010/main" val="2298939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Join Orders (Idea Only)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Enumerating plans without exploding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85142"/>
            <a:ext cx="10744200" cy="38070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 matters a lot (A ⋈ B) ⋈ C may be much faster than A ⋈ (B ⋈ C).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 often search “left-deep” trees (one join at a time).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idea: reuse best plan for each subset of tables.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Heuristics/pruning stop the search from becoming too large.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806440"/>
            <a:ext cx="10744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the optimizer explores alternatives and keeps the cheapest (estimated) ones.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 Execution Plan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in EXPLAIN output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40000"/>
            <a:ext cx="10744200" cy="3952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Operators: Seq Scan, Index Scan, Hash Join, Sort, Aggregate, etc.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rows/cardinality at each node.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(often “startup..total”).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runtime (if you run EXPLAIN ANALYZE) may differ from estimates.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744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 example (conceptual):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Join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Seq Scan on 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Hash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-&gt; Index Scan on S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E759D7-E28E-CC23-58D7-E169015A9288}"/>
              </a:ext>
            </a:extLst>
          </p:cNvPr>
          <p:cNvSpPr txBox="1"/>
          <p:nvPr/>
        </p:nvSpPr>
        <p:spPr>
          <a:xfrm>
            <a:off x="317183" y="1923187"/>
            <a:ext cx="52035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TABLE Employee (</a:t>
            </a:r>
            <a:r>
              <a:rPr lang="en-US" dirty="0" err="1"/>
              <a:t>emp_id</a:t>
            </a:r>
            <a:r>
              <a:rPr lang="en-US" dirty="0"/>
              <a:t> INT, name VARCHAR(20), </a:t>
            </a:r>
            <a:r>
              <a:rPr lang="en-US" dirty="0" err="1"/>
              <a:t>dept_id</a:t>
            </a:r>
            <a:r>
              <a:rPr lang="en-US" dirty="0"/>
              <a:t> INT, salary INT);</a:t>
            </a:r>
          </a:p>
          <a:p>
            <a:endParaRPr lang="en-US" dirty="0"/>
          </a:p>
          <a:p>
            <a:r>
              <a:rPr lang="en-US" dirty="0"/>
              <a:t>CREATE TABLE Department (</a:t>
            </a:r>
            <a:r>
              <a:rPr lang="en-US" dirty="0" err="1"/>
              <a:t>dept_id</a:t>
            </a:r>
            <a:r>
              <a:rPr lang="en-US" dirty="0"/>
              <a:t> INT, </a:t>
            </a:r>
            <a:r>
              <a:rPr lang="en-US" dirty="0" err="1"/>
              <a:t>dept_name</a:t>
            </a:r>
            <a:r>
              <a:rPr lang="en-US" dirty="0"/>
              <a:t> VARCHAR(20), location VARCHAR(20) 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BF36F-E89A-CEE3-FEF7-6EF6AEEE43B0}"/>
              </a:ext>
            </a:extLst>
          </p:cNvPr>
          <p:cNvSpPr txBox="1"/>
          <p:nvPr/>
        </p:nvSpPr>
        <p:spPr>
          <a:xfrm>
            <a:off x="617220" y="617220"/>
            <a:ext cx="7362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Employee Use Case Example 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E55B5D-9C52-72CF-2FA6-CC650D4D6AC3}"/>
              </a:ext>
            </a:extLst>
          </p:cNvPr>
          <p:cNvSpPr txBox="1"/>
          <p:nvPr/>
        </p:nvSpPr>
        <p:spPr>
          <a:xfrm>
            <a:off x="317183" y="3444716"/>
            <a:ext cx="56264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INSERT INTO Employee VALUES (1, ‘Kim', 10, 60000), (2, ‘</a:t>
            </a:r>
            <a:r>
              <a:rPr lang="en-US" dirty="0" err="1"/>
              <a:t>Nyugen</a:t>
            </a:r>
            <a:r>
              <a:rPr lang="en-US" dirty="0"/>
              <a:t>', 20, 45000), (3, ‘Nahi', 10, 70000), (4, ‘Tien', 30, 40000);</a:t>
            </a:r>
          </a:p>
          <a:p>
            <a:endParaRPr lang="en-US" dirty="0"/>
          </a:p>
          <a:p>
            <a:r>
              <a:rPr lang="en-US" dirty="0"/>
              <a:t>INSERT INTO Department VALUES (10, 'IT', ‘Binh Dung’), (20, 'HR', ‘Ho Chi Minh City’), (30, 'Sales', ‘Hanoi');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40C9C-9AD7-FDFD-E058-B10FDCA7B5FC}"/>
              </a:ext>
            </a:extLst>
          </p:cNvPr>
          <p:cNvSpPr txBox="1"/>
          <p:nvPr/>
        </p:nvSpPr>
        <p:spPr>
          <a:xfrm>
            <a:off x="361952" y="5458570"/>
            <a:ext cx="54902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Classical JOIN Query:</a:t>
            </a:r>
          </a:p>
          <a:p>
            <a:r>
              <a:rPr lang="en-US" dirty="0"/>
              <a:t>SELECT </a:t>
            </a:r>
            <a:r>
              <a:rPr lang="en-US" dirty="0" err="1"/>
              <a:t>E.name</a:t>
            </a:r>
            <a:r>
              <a:rPr lang="en-US" dirty="0"/>
              <a:t>, </a:t>
            </a:r>
            <a:r>
              <a:rPr lang="en-US" dirty="0" err="1"/>
              <a:t>D.dept_name</a:t>
            </a:r>
            <a:r>
              <a:rPr lang="en-US" dirty="0"/>
              <a:t> FROM Employee E, Department D WHERE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r>
              <a:rPr lang="en-US" dirty="0"/>
              <a:t> AND </a:t>
            </a:r>
            <a:r>
              <a:rPr lang="en-US" dirty="0" err="1"/>
              <a:t>D.location</a:t>
            </a:r>
            <a:r>
              <a:rPr lang="en-US" dirty="0"/>
              <a:t> = ' Binh Dung ‘ AND </a:t>
            </a:r>
            <a:r>
              <a:rPr lang="en-US" dirty="0" err="1"/>
              <a:t>E.salary</a:t>
            </a:r>
            <a:r>
              <a:rPr lang="en-US" dirty="0"/>
              <a:t> &gt; 50000;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FE240E-893B-1E0A-8B97-EF31756F17A1}"/>
              </a:ext>
            </a:extLst>
          </p:cNvPr>
          <p:cNvSpPr txBox="1"/>
          <p:nvPr/>
        </p:nvSpPr>
        <p:spPr>
          <a:xfrm>
            <a:off x="6455093" y="2613719"/>
            <a:ext cx="52035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Heuristic (Rule-Based) Optimization - Optimized SQL (Logical)</a:t>
            </a:r>
          </a:p>
          <a:p>
            <a:endParaRPr lang="en-IN" dirty="0"/>
          </a:p>
          <a:p>
            <a:r>
              <a:rPr lang="en-IN" b="1" dirty="0"/>
              <a:t>Rule Applied </a:t>
            </a:r>
            <a:r>
              <a:rPr lang="en-IN" dirty="0"/>
              <a:t>- Combine selections, Push selection down, Replace Cartesian product with JOIN and Project required columns early </a:t>
            </a:r>
          </a:p>
          <a:p>
            <a:endParaRPr lang="en-IN" dirty="0"/>
          </a:p>
          <a:p>
            <a:r>
              <a:rPr lang="en-US" dirty="0"/>
              <a:t>SELECT </a:t>
            </a:r>
            <a:r>
              <a:rPr lang="en-US" dirty="0" err="1"/>
              <a:t>E.name</a:t>
            </a:r>
            <a:r>
              <a:rPr lang="en-US" dirty="0"/>
              <a:t>, </a:t>
            </a:r>
            <a:r>
              <a:rPr lang="en-US" dirty="0" err="1"/>
              <a:t>D.dept_name</a:t>
            </a:r>
            <a:r>
              <a:rPr lang="en-US" dirty="0"/>
              <a:t> FROM Employee E</a:t>
            </a:r>
          </a:p>
          <a:p>
            <a:r>
              <a:rPr lang="en-US" dirty="0"/>
              <a:t>JOIN Department D ON </a:t>
            </a:r>
            <a:r>
              <a:rPr lang="en-US" dirty="0" err="1"/>
              <a:t>E.dept_id</a:t>
            </a:r>
            <a:r>
              <a:rPr lang="en-US" dirty="0"/>
              <a:t> = </a:t>
            </a:r>
            <a:r>
              <a:rPr lang="en-US" dirty="0" err="1"/>
              <a:t>D.dept_id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D.location</a:t>
            </a:r>
            <a:r>
              <a:rPr lang="en-US" dirty="0"/>
              <a:t> = ' Binh Dung ’ AND </a:t>
            </a:r>
            <a:r>
              <a:rPr lang="en-US" dirty="0" err="1"/>
              <a:t>E.salary</a:t>
            </a:r>
            <a:r>
              <a:rPr lang="en-US" dirty="0"/>
              <a:t> &gt; 50000;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04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1CF208-30F5-CCA2-23BB-381573EDC945}"/>
              </a:ext>
            </a:extLst>
          </p:cNvPr>
          <p:cNvSpPr txBox="1"/>
          <p:nvPr/>
        </p:nvSpPr>
        <p:spPr>
          <a:xfrm>
            <a:off x="431483" y="2284214"/>
            <a:ext cx="44234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Cost-Based Optimization: </a:t>
            </a:r>
          </a:p>
          <a:p>
            <a:r>
              <a:rPr lang="en-IN" dirty="0"/>
              <a:t>Assume information-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Employee table = 1000 rows (200 pages)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Department table = 50 rows (5 pages)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Index on </a:t>
            </a:r>
            <a:r>
              <a:rPr lang="en-IN" dirty="0" err="1"/>
              <a:t>Employee.dept_id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Disk I/O cost </a:t>
            </a:r>
            <a:r>
              <a:rPr lang="en-IN" dirty="0" err="1"/>
              <a:t>t</a:t>
            </a:r>
            <a:r>
              <a:rPr lang="en-IN" baseline="-25000" dirty="0" err="1"/>
              <a:t>IO</a:t>
            </a:r>
            <a:r>
              <a:rPr lang="en-IN" dirty="0"/>
              <a:t> = 5 </a:t>
            </a:r>
            <a:r>
              <a:rPr lang="en-IN" dirty="0" err="1"/>
              <a:t>ms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CPU cost </a:t>
            </a:r>
            <a:r>
              <a:rPr lang="en-IN" dirty="0" err="1"/>
              <a:t>t</a:t>
            </a:r>
            <a:r>
              <a:rPr lang="en-IN" baseline="-25000" dirty="0" err="1"/>
              <a:t>CPU</a:t>
            </a:r>
            <a:r>
              <a:rPr lang="en-IN" baseline="-25000" dirty="0"/>
              <a:t> </a:t>
            </a:r>
            <a:r>
              <a:rPr lang="en-IN" dirty="0"/>
              <a:t>= 0.01 </a:t>
            </a:r>
            <a:r>
              <a:rPr lang="en-IN" dirty="0" err="1"/>
              <a:t>ms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3BE64-1CC4-23B6-F5DB-445CC881DEFA}"/>
              </a:ext>
            </a:extLst>
          </p:cNvPr>
          <p:cNvSpPr txBox="1"/>
          <p:nvPr/>
        </p:nvSpPr>
        <p:spPr>
          <a:xfrm>
            <a:off x="7403781" y="2538814"/>
            <a:ext cx="47882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Plan A: Full Table Scan + Nested Loop Join</a:t>
            </a:r>
          </a:p>
          <a:p>
            <a:r>
              <a:rPr lang="en-IN" dirty="0"/>
              <a:t>Solutions- </a:t>
            </a:r>
          </a:p>
          <a:p>
            <a:r>
              <a:rPr lang="en-IN" dirty="0"/>
              <a:t>N</a:t>
            </a:r>
            <a:r>
              <a:rPr lang="en-IN" baseline="-25000" dirty="0"/>
              <a:t>IO</a:t>
            </a:r>
            <a:r>
              <a:rPr lang="en-IN" dirty="0"/>
              <a:t> ​= 205 pages</a:t>
            </a:r>
          </a:p>
          <a:p>
            <a:r>
              <a:rPr lang="en-IN" dirty="0"/>
              <a:t>N</a:t>
            </a:r>
            <a:r>
              <a:rPr lang="en-IN" baseline="-25000" dirty="0"/>
              <a:t>CPU</a:t>
            </a:r>
            <a:r>
              <a:rPr lang="en-IN" dirty="0"/>
              <a:t> = 10,000 tuple operations</a:t>
            </a:r>
          </a:p>
          <a:p>
            <a:endParaRPr lang="en-IN" dirty="0"/>
          </a:p>
          <a:p>
            <a:r>
              <a:rPr lang="en-IN" dirty="0"/>
              <a:t>Cost(A)    = (205×5) + (10,000×0.01) </a:t>
            </a:r>
          </a:p>
          <a:p>
            <a:r>
              <a:rPr lang="en-IN" dirty="0"/>
              <a:t>	= 1025+100</a:t>
            </a:r>
          </a:p>
          <a:p>
            <a:r>
              <a:rPr lang="en-IN" dirty="0"/>
              <a:t>	= 1125 </a:t>
            </a:r>
            <a:r>
              <a:rPr lang="en-IN" dirty="0" err="1"/>
              <a:t>ms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3D5E4-FF02-2079-9543-BCD25C360E1B}"/>
              </a:ext>
            </a:extLst>
          </p:cNvPr>
          <p:cNvSpPr txBox="1"/>
          <p:nvPr/>
        </p:nvSpPr>
        <p:spPr>
          <a:xfrm>
            <a:off x="431481" y="4459307"/>
            <a:ext cx="41405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Plan B: Index Join (Chosen Plan)</a:t>
            </a:r>
          </a:p>
          <a:p>
            <a:r>
              <a:rPr lang="en-IN" dirty="0"/>
              <a:t>N</a:t>
            </a:r>
            <a:r>
              <a:rPr lang="en-IN" baseline="-25000" dirty="0"/>
              <a:t>IO</a:t>
            </a:r>
            <a:r>
              <a:rPr lang="en-IN" dirty="0"/>
              <a:t> = 55 pages</a:t>
            </a:r>
          </a:p>
          <a:p>
            <a:r>
              <a:rPr lang="en-IN" dirty="0"/>
              <a:t>N</a:t>
            </a:r>
            <a:r>
              <a:rPr lang="en-IN" baseline="-25000" dirty="0"/>
              <a:t>CPU</a:t>
            </a:r>
            <a:r>
              <a:rPr lang="en-IN" dirty="0"/>
              <a:t> = 2,000 tuple operations</a:t>
            </a:r>
          </a:p>
          <a:p>
            <a:r>
              <a:rPr lang="en-IN" dirty="0"/>
              <a:t>Cost(B) 	= (55×5)+(2,000×0.01)</a:t>
            </a:r>
          </a:p>
          <a:p>
            <a:r>
              <a:rPr lang="en-IN" dirty="0"/>
              <a:t>	=275+20</a:t>
            </a:r>
          </a:p>
          <a:p>
            <a:r>
              <a:rPr lang="en-IN" dirty="0"/>
              <a:t>	=295 </a:t>
            </a:r>
            <a:r>
              <a:rPr lang="en-IN" dirty="0" err="1"/>
              <a:t>ms</a:t>
            </a:r>
            <a:endParaRPr lang="en-IN" dirty="0"/>
          </a:p>
          <a:p>
            <a:r>
              <a:rPr lang="en-IN" dirty="0"/>
              <a:t>Cost-based optimizer selects Plan B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181A52-CBCA-5D3E-C893-3791E4EF1549}"/>
              </a:ext>
            </a:extLst>
          </p:cNvPr>
          <p:cNvSpPr txBox="1"/>
          <p:nvPr/>
        </p:nvSpPr>
        <p:spPr>
          <a:xfrm>
            <a:off x="3880485" y="3816667"/>
            <a:ext cx="2903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Final Query Execution plan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67B63C-2B5D-903E-5918-B9F53C63A098}"/>
              </a:ext>
            </a:extLst>
          </p:cNvPr>
          <p:cNvSpPr txBox="1"/>
          <p:nvPr/>
        </p:nvSpPr>
        <p:spPr>
          <a:xfrm>
            <a:off x="4854893" y="4023151"/>
            <a:ext cx="17402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⑅</a:t>
            </a:r>
            <a:r>
              <a:rPr lang="en-US" dirty="0"/>
              <a:t> (Index Join)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3C86C-1B88-2FE6-41C0-70E8D8796A25}"/>
              </a:ext>
            </a:extLst>
          </p:cNvPr>
          <p:cNvSpPr txBox="1"/>
          <p:nvPr/>
        </p:nvSpPr>
        <p:spPr>
          <a:xfrm>
            <a:off x="4173379" y="4933829"/>
            <a:ext cx="1740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σ</a:t>
            </a:r>
            <a:r>
              <a:rPr lang="en-US" dirty="0"/>
              <a:t>  location = ‘Bing Duong’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B56695-967A-71FC-0862-15B16CC2D7AB}"/>
              </a:ext>
            </a:extLst>
          </p:cNvPr>
          <p:cNvSpPr txBox="1"/>
          <p:nvPr/>
        </p:nvSpPr>
        <p:spPr>
          <a:xfrm>
            <a:off x="6278406" y="5000475"/>
            <a:ext cx="185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σ</a:t>
            </a:r>
            <a:r>
              <a:rPr lang="en-US" dirty="0"/>
              <a:t>  salary &gt; 50000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EAD8-C8B7-7CCA-E354-BBA747B4A66A}"/>
              </a:ext>
            </a:extLst>
          </p:cNvPr>
          <p:cNvSpPr txBox="1"/>
          <p:nvPr/>
        </p:nvSpPr>
        <p:spPr>
          <a:xfrm>
            <a:off x="4173379" y="5906063"/>
            <a:ext cx="146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6ED1E2-5C1D-BCB9-5083-BD46FE57E9DC}"/>
              </a:ext>
            </a:extLst>
          </p:cNvPr>
          <p:cNvSpPr txBox="1"/>
          <p:nvPr/>
        </p:nvSpPr>
        <p:spPr>
          <a:xfrm>
            <a:off x="6383179" y="5906063"/>
            <a:ext cx="1930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Employee (Index)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C903EF-5A95-008E-0A17-F5C1A33275CB}"/>
              </a:ext>
            </a:extLst>
          </p:cNvPr>
          <p:cNvCxnSpPr>
            <a:stCxn id="11" idx="2"/>
          </p:cNvCxnSpPr>
          <p:nvPr/>
        </p:nvCxnSpPr>
        <p:spPr>
          <a:xfrm flipH="1">
            <a:off x="4854893" y="4607926"/>
            <a:ext cx="870109" cy="392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B2D2E0-0EE5-C07A-772D-E05109C6097E}"/>
              </a:ext>
            </a:extLst>
          </p:cNvPr>
          <p:cNvCxnSpPr>
            <a:stCxn id="11" idx="2"/>
          </p:cNvCxnSpPr>
          <p:nvPr/>
        </p:nvCxnSpPr>
        <p:spPr>
          <a:xfrm>
            <a:off x="5725002" y="4607926"/>
            <a:ext cx="1247298" cy="4784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1C40F3-AD08-9636-472B-0224EC6BB5B1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flipH="1">
            <a:off x="4904185" y="5580160"/>
            <a:ext cx="139303" cy="3259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7F6E106-A70A-100E-9894-B172DAE2E5BE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7208283" y="5369807"/>
            <a:ext cx="140256" cy="536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2E5400A-72EE-4ACE-199A-1AA9B38172EF}"/>
              </a:ext>
            </a:extLst>
          </p:cNvPr>
          <p:cNvSpPr txBox="1"/>
          <p:nvPr/>
        </p:nvSpPr>
        <p:spPr>
          <a:xfrm>
            <a:off x="617220" y="617220"/>
            <a:ext cx="73629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Employee Use Case Example - </a:t>
            </a:r>
          </a:p>
        </p:txBody>
      </p:sp>
    </p:spTree>
    <p:extLst>
      <p:ext uri="{BB962C8B-B14F-4D97-AF65-F5344CB8AC3E}">
        <p14:creationId xmlns:p14="http://schemas.microsoft.com/office/powerpoint/2010/main" val="4165020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28686"/>
            <a:ext cx="10744200" cy="37635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processing: parse → rewrite → optimize → execute.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have multiple algorithms; pick based on size, indexes, and predicates.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uses rules + statistics to reduce work early.</a:t>
            </a:r>
            <a:endParaRPr lang="en-US" sz="2200" dirty="0"/>
          </a:p>
          <a:p>
            <a:pPr marL="355600" indent="-355600">
              <a:buSzPct val="100000"/>
              <a:buChar char="•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optimizers compare many plans and choose the cheapest estimate.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8660" y="5943600"/>
            <a:ext cx="10744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for practice: write a query, guess the plan, then check with EXPLAIN in a DBMS.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CF02B93-579D-E74C-D3EC-076D8ADCA346}"/>
              </a:ext>
            </a:extLst>
          </p:cNvPr>
          <p:cNvSpPr txBox="1">
            <a:spLocks/>
          </p:cNvSpPr>
          <p:nvPr/>
        </p:nvSpPr>
        <p:spPr>
          <a:xfrm>
            <a:off x="1783080" y="601218"/>
            <a:ext cx="8229600" cy="90754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/>
              <a:t>Further Reading and Practice</a:t>
            </a:r>
            <a:endParaRPr lang="en-U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FD297505-3CE5-7A30-2CD9-285E31F78931}"/>
              </a:ext>
            </a:extLst>
          </p:cNvPr>
          <p:cNvSpPr txBox="1">
            <a:spLocks/>
          </p:cNvSpPr>
          <p:nvPr/>
        </p:nvSpPr>
        <p:spPr>
          <a:xfrm>
            <a:off x="872067" y="2675467"/>
            <a:ext cx="10820823" cy="3450696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Silberschatz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A.,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Korth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H. F., &amp; Sudarshan, S. (2020). Database System Concepts (7th ed.). McGraw-Hill. (Part six, Chapter 15 and 16. Query processing and optimization page no-689 to 794)</a:t>
            </a:r>
          </a:p>
          <a:p>
            <a:r>
              <a:rPr lang="en-IN" b="0" dirty="0" err="1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Rupley</a:t>
            </a:r>
            <a:r>
              <a:rPr lang="en-IN" b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Jr, Michael L. "Introduction to query processing and optimization." Indiana University at South Bend (2008).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Practice with SQL compiler Such as MySQL, </a:t>
            </a:r>
            <a:r>
              <a:rPr lang="en-IN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PostgreSQL, </a:t>
            </a:r>
          </a:p>
          <a:p>
            <a:pPr lvl="1"/>
            <a:r>
              <a:rPr lang="en-IN" sz="24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compiler - </a:t>
            </a:r>
            <a:r>
              <a:rPr lang="en-IN" sz="24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https://sqlfiddle.com/</a:t>
            </a:r>
            <a:r>
              <a:rPr lang="en-IN" sz="24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514600" lvl="8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https://sqlzoo.net/wiki/SQL_Tutorial</a:t>
            </a:r>
            <a:r>
              <a:rPr lang="en-I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3528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1085</TotalTime>
  <Words>3614</Words>
  <Application>Microsoft Macintosh PowerPoint</Application>
  <PresentationFormat>Widescreen</PresentationFormat>
  <Paragraphs>474</Paragraphs>
  <Slides>32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ＭＳ Ｐゴシック</vt:lpstr>
      <vt:lpstr>Arial</vt:lpstr>
      <vt:lpstr>Calibri</vt:lpstr>
      <vt:lpstr>Candara</vt:lpstr>
      <vt:lpstr>Consolas</vt:lpstr>
      <vt:lpstr>Courier New</vt:lpstr>
      <vt:lpstr>Symbol</vt:lpstr>
      <vt:lpstr>Times New Roman</vt:lpstr>
      <vt:lpstr>Wingdings</vt:lpstr>
      <vt:lpstr>Waveform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5104</cp:lastModifiedBy>
  <cp:revision>132</cp:revision>
  <dcterms:created xsi:type="dcterms:W3CDTF">2025-12-19T07:01:46Z</dcterms:created>
  <dcterms:modified xsi:type="dcterms:W3CDTF">2025-12-30T07:40:47Z</dcterms:modified>
</cp:coreProperties>
</file>
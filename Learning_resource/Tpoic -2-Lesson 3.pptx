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79" r:id="rId5"/>
    <p:sldId id="260" r:id="rId6"/>
    <p:sldId id="281" r:id="rId7"/>
    <p:sldId id="261" r:id="rId8"/>
    <p:sldId id="262" r:id="rId9"/>
    <p:sldId id="29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7D4A0-AB3B-4297-96DC-A945D1E47E93}" type="datetimeFigureOut">
              <a:rPr lang="en-IN" smtClean="0"/>
              <a:t>05/01/26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1FCF7-259F-45CA-8CE9-4E74229F3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86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qlzoo.net/wiki/SQL_Tutorial" TargetMode="External"/><Relationship Id="rId2" Type="http://schemas.openxmlformats.org/officeDocument/2006/relationships/hyperlink" Target="https://sqlfiddle.com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149" y="544285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and Optimization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F45D1F-3D82-9B9E-08AE-C5F1368DB82B}"/>
              </a:ext>
            </a:extLst>
          </p:cNvPr>
          <p:cNvSpPr txBox="1">
            <a:spLocks/>
          </p:cNvSpPr>
          <p:nvPr/>
        </p:nvSpPr>
        <p:spPr>
          <a:xfrm>
            <a:off x="2034540" y="2538946"/>
            <a:ext cx="7772400" cy="71860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100" dirty="0">
                <a:solidFill>
                  <a:schemeClr val="bg2">
                    <a:lumMod val="25000"/>
                  </a:schemeClr>
                </a:solidFill>
              </a:rPr>
              <a:t>Week - 2 ,Topic – 2, Lesson - 3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B52F3B1-1E6E-7DD8-114D-DBEFE6EFAF42}"/>
              </a:ext>
            </a:extLst>
          </p:cNvPr>
          <p:cNvSpPr txBox="1">
            <a:spLocks/>
          </p:cNvSpPr>
          <p:nvPr/>
        </p:nvSpPr>
        <p:spPr>
          <a:xfrm>
            <a:off x="3474720" y="3377566"/>
            <a:ext cx="5242560" cy="44577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Query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83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64224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25783"/>
            <a:ext cx="10744200" cy="703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steps and core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Query Processing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3880" y="1028173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processing steps and algorithms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8610" y="2178038"/>
            <a:ext cx="5257800" cy="33888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 algn="just">
              <a:buSzPct val="100000"/>
              <a:buFontTx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is the DBMS workflow that translates a declarative query (SQL) into an efficient sequence of physical operations that produces the  actual results.</a:t>
            </a:r>
            <a:endParaRPr lang="en-US" sz="1600" dirty="0"/>
          </a:p>
          <a:p>
            <a:pPr marL="355600" indent="-355600" algn="just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usually a physical plan (a tree of operators).</a:t>
            </a:r>
          </a:p>
          <a:p>
            <a:pPr algn="just">
              <a:buSzPct val="100000"/>
            </a:pPr>
            <a:endParaRPr lang="en-US" sz="1600" dirty="0">
              <a:solidFill>
                <a:srgbClr val="111111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altLang="en-US" sz="1600" dirty="0">
                <a:ea typeface="ＭＳ Ｐゴシック" panose="020B0600070205080204" pitchFamily="34" charset="-128"/>
              </a:rPr>
              <a:t>Steps for Query Processing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1600" dirty="0">
                <a:ea typeface="ＭＳ Ｐゴシック" panose="020B0600070205080204" pitchFamily="34" charset="-128"/>
              </a:rPr>
              <a:t>Parsing and translation -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SQL syntax; build a parse tree (translate into a Relational algebra)</a:t>
            </a:r>
            <a:endParaRPr lang="en-US" altLang="en-US" sz="1600" dirty="0">
              <a:ea typeface="ＭＳ Ｐゴシック" panose="020B060007020508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600" dirty="0">
                <a:ea typeface="ＭＳ Ｐゴシック" panose="020B0600070205080204" pitchFamily="34" charset="-128"/>
              </a:rPr>
              <a:t>Optimization -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join order + algorithms + access paths.</a:t>
            </a:r>
            <a:endParaRPr lang="en-US" altLang="en-US" sz="1600" dirty="0">
              <a:ea typeface="ＭＳ Ｐゴシック" panose="020B060007020508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600" dirty="0">
                <a:ea typeface="ＭＳ Ｐゴシック" panose="020B0600070205080204" pitchFamily="34" charset="-128"/>
              </a:rPr>
              <a:t>Evaluation - The query-execution engine takes a query-evaluation plan (logical or physical), executes that plan, and returns the answers to the query.</a:t>
            </a:r>
          </a:p>
          <a:p>
            <a:pPr marL="342900" indent="-342900">
              <a:buFont typeface="+mj-lt"/>
              <a:buAutoNum type="arabicPeriod"/>
            </a:pP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290" y="6006383"/>
            <a:ext cx="7989570" cy="805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relational algebra operators like σ (selection), π (projection), ⋈ (join).</a:t>
            </a:r>
          </a:p>
          <a:p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many different plans can produce the same answer, but with very different runtime.</a:t>
            </a:r>
            <a:endParaRPr lang="en-US" sz="1400" dirty="0"/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7B2AF210-07B3-B10F-8F84-243C410DE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490" y="2560319"/>
            <a:ext cx="5676900" cy="348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BE591D-E86A-0EAD-E70B-B5C288AC7CAA}"/>
              </a:ext>
            </a:extLst>
          </p:cNvPr>
          <p:cNvSpPr txBox="1"/>
          <p:nvPr/>
        </p:nvSpPr>
        <p:spPr>
          <a:xfrm>
            <a:off x="7978140" y="6046470"/>
            <a:ext cx="2526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Steps for Query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84C8779-52A2-A02A-B620-9F64F4A173EF}"/>
              </a:ext>
            </a:extLst>
          </p:cNvPr>
          <p:cNvSpPr txBox="1">
            <a:spLocks noChangeArrowheads="1"/>
          </p:cNvSpPr>
          <p:nvPr/>
        </p:nvSpPr>
        <p:spPr>
          <a:xfrm>
            <a:off x="328295" y="2486661"/>
            <a:ext cx="11535410" cy="4074159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altLang="en-US" sz="2000" dirty="0">
                <a:ea typeface="ＭＳ Ｐゴシック" panose="020B0600070205080204" pitchFamily="34" charset="-128"/>
              </a:rPr>
              <a:t>A relational algebra expression may have many equivalent expressions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</a:rPr>
              <a:t>E.g., </a:t>
            </a:r>
            <a:r>
              <a:rPr lang="en-US" altLang="en-US" sz="2400" dirty="0">
                <a:ea typeface="ＭＳ Ｐゴシック" panose="020B0600070205080204" pitchFamily="34" charset="-128"/>
                <a:sym typeface="Symbol" pitchFamily="2" charset="2"/>
              </a:rPr>
              <a:t></a:t>
            </a:r>
            <a:r>
              <a:rPr lang="en-US" altLang="en-US" sz="24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400" baseline="-25000" dirty="0">
                <a:ea typeface="ＭＳ Ｐゴシック" panose="020B0600070205080204" pitchFamily="34" charset="-128"/>
                <a:sym typeface="Symbol" pitchFamily="2" charset="2"/>
              </a:rPr>
              <a:t>75000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</a:t>
            </a:r>
            <a:r>
              <a:rPr lang="en-US" altLang="en-US" sz="20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instructor)) 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is equivalent to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</a:t>
            </a:r>
            <a:r>
              <a:rPr lang="en-US" altLang="en-US" sz="24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sz="2400" dirty="0">
                <a:ea typeface="ＭＳ Ｐゴシック" panose="020B0600070205080204" pitchFamily="34" charset="-128"/>
                <a:sym typeface="Symbol" pitchFamily="2" charset="2"/>
              </a:rPr>
              <a:t></a:t>
            </a:r>
            <a:r>
              <a:rPr lang="en-US" altLang="en-US" sz="24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400" baseline="-25000" dirty="0">
                <a:ea typeface="ＭＳ Ｐゴシック" panose="020B0600070205080204" pitchFamily="34" charset="-128"/>
                <a:sym typeface="Symbol" pitchFamily="2" charset="2"/>
              </a:rPr>
              <a:t>75000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instructor))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Each relational algebra operation can be evaluated using one of several different algorithms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Correspondingly, a relational-algebra expression can be evaluated in many ways. 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Annotated expression specifying detailed evaluation strategy is called an </a:t>
            </a:r>
            <a:r>
              <a:rPr lang="en-US" altLang="en-US" sz="2000" dirty="0">
                <a:solidFill>
                  <a:schemeClr val="accent1">
                    <a:lumMod val="50000"/>
                  </a:schemeClr>
                </a:solidFill>
                <a:ea typeface="ＭＳ Ｐゴシック" panose="020B0600070205080204" pitchFamily="34" charset="-128"/>
                <a:sym typeface="Symbol" pitchFamily="2" charset="2"/>
              </a:rPr>
              <a:t>evaluation-plan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. It can be Logical (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) or physical plan (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operators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E.g., can use an index on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to find instructors with salary &lt; 75000,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or can perform complete relation scan and discard instructors with salary  75000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>
                    <a:lumMod val="50000"/>
                  </a:schemeClr>
                </a:solidFill>
                <a:ea typeface="ＭＳ Ｐゴシック" panose="020B0600070205080204" pitchFamily="34" charset="-128"/>
                <a:sym typeface="Symbol" pitchFamily="2" charset="2"/>
              </a:rPr>
              <a:t>Query Optimization</a:t>
            </a:r>
            <a:r>
              <a:rPr lang="en-US" altLang="en-US" sz="2000" dirty="0">
                <a:solidFill>
                  <a:schemeClr val="tx2"/>
                </a:solidFill>
                <a:ea typeface="ＭＳ Ｐゴシック" panose="020B0600070205080204" pitchFamily="34" charset="-128"/>
                <a:sym typeface="Symbol" pitchFamily="2" charset="2"/>
              </a:rPr>
              <a:t>: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 Amongst all equivalent evaluation plans choose the one with lowest cost. </a:t>
            </a:r>
          </a:p>
          <a:p>
            <a:pPr marL="301943" lvl="1" indent="0">
              <a:buNone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Example - SELECT * FROM Student WHERE </a:t>
            </a:r>
            <a:r>
              <a:rPr lang="en-US" altLang="en-US" sz="2000" dirty="0" err="1">
                <a:ea typeface="ＭＳ Ｐゴシック" panose="020B0600070205080204" pitchFamily="34" charset="-128"/>
                <a:sym typeface="Symbol" pitchFamily="2" charset="2"/>
              </a:rPr>
              <a:t>roll_no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= 101; (Optimize by - Use </a:t>
            </a:r>
            <a:r>
              <a:rPr lang="en-US" altLang="en-US" sz="2000" dirty="0" err="1">
                <a:ea typeface="ＭＳ Ｐゴシック" panose="020B0600070205080204" pitchFamily="34" charset="-128"/>
                <a:sym typeface="Symbol" pitchFamily="2" charset="2"/>
              </a:rPr>
              <a:t>roll_no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for fast scan)</a:t>
            </a:r>
            <a:endParaRPr lang="en-US" altLang="en-US" sz="2200" dirty="0">
              <a:ea typeface="ＭＳ Ｐゴシック" panose="020B0600070205080204" pitchFamily="34" charset="-128"/>
              <a:sym typeface="Symbol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1FA21-5B8C-5780-CF28-3082E1F1EF91}"/>
              </a:ext>
            </a:extLst>
          </p:cNvPr>
          <p:cNvSpPr txBox="1"/>
          <p:nvPr/>
        </p:nvSpPr>
        <p:spPr>
          <a:xfrm>
            <a:off x="682942" y="598259"/>
            <a:ext cx="85753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Query Processing : Optimization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60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Algorithms - Selection (σ)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rows that satisfy a condition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8610" y="2114187"/>
            <a:ext cx="10744200" cy="35893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scan: read every page and test the predicate.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Example - SELECT * FROM Student WHERE University = ‘EIU’;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IN" sz="2400" dirty="0"/>
              <a:t>Used when no index exists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scan: use an index to jump to matching tuples.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200" dirty="0"/>
              <a:t>Example - SELECT * FROM Student WHERE </a:t>
            </a:r>
            <a:r>
              <a:rPr lang="en-US" sz="2200" dirty="0" err="1"/>
              <a:t>roll_no</a:t>
            </a:r>
            <a:r>
              <a:rPr lang="en-US" sz="2200" dirty="0"/>
              <a:t> = 101;</a:t>
            </a: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index scan: combine multiple conditions efficiently.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Example – </a:t>
            </a:r>
          </a:p>
          <a:p>
            <a:pPr lvl="1">
              <a:buSzPct val="100000"/>
            </a:pP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selectivity (how many rows match).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8610" y="5925312"/>
            <a:ext cx="10744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example: sel(A=5) = (#rows where A=5) / (total #rows).</a:t>
            </a:r>
            <a:endParaRPr lang="en-US" sz="18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7CDBDD7-E457-EA1F-434E-AA549B043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6048" y="4274820"/>
            <a:ext cx="769239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93018F-66AB-710E-BA6F-FAC6F796D85B}"/>
              </a:ext>
            </a:extLst>
          </p:cNvPr>
          <p:cNvSpPr txBox="1"/>
          <p:nvPr/>
        </p:nvSpPr>
        <p:spPr>
          <a:xfrm>
            <a:off x="548640" y="525780"/>
            <a:ext cx="5339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cs typeface="Times New Roman" panose="02020603050405020304" pitchFamily="18" charset="0"/>
              </a:rPr>
              <a:t>Projection Algorithm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EC7E2-84E5-D813-A1EF-B5C89D53483F}"/>
              </a:ext>
            </a:extLst>
          </p:cNvPr>
          <p:cNvSpPr txBox="1"/>
          <p:nvPr/>
        </p:nvSpPr>
        <p:spPr>
          <a:xfrm>
            <a:off x="306994" y="2747486"/>
            <a:ext cx="108842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The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Projection Algorithm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 is the method used by the DBMS to: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Extract only required columns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Remove duplicate rows (if required)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Store or display the result efficiently</a:t>
            </a: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Example – SQL : SELECT Name FROM Student WHERE Marks &gt; 80;</a:t>
            </a: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Relational Algebra Representation: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</a:rPr>
              <a:t>π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Name (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</a:rPr>
              <a:t>σ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Marks &gt; 80 (Student) )</a:t>
            </a:r>
          </a:p>
        </p:txBody>
      </p:sp>
    </p:spTree>
    <p:extLst>
      <p:ext uri="{BB962C8B-B14F-4D97-AF65-F5344CB8AC3E}">
        <p14:creationId xmlns:p14="http://schemas.microsoft.com/office/powerpoint/2010/main" val="269785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Aggregation (GROUP BY)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ways to group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2320219"/>
            <a:ext cx="6926580" cy="3605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Sort-based: sort by the GROUP BY key, then scan and aggregate.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Hash-based: hash tuples into buckets by key, then aggregate per bucket.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may spill to disk if data does not fit in memory.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aggregates: COUNT(*), SUM(x), AVG(x).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AVG(salary) = (SUM(salary)) / (COUNT(*))</a:t>
            </a:r>
            <a:endParaRPr lang="en-US" sz="20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For relations that fit in memory, techniques like quicksort can be used.  </a:t>
            </a: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For relations that don</a:t>
            </a:r>
            <a:r>
              <a:rPr lang="ja-JP" altLang="en-US" sz="2200"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ea typeface="ＭＳ Ｐゴシック" panose="020B0600070205080204" pitchFamily="34" charset="-128"/>
              </a:rPr>
              <a:t>t fit in memory, </a:t>
            </a:r>
            <a:r>
              <a:rPr lang="en-US" altLang="ja-JP" sz="2200" b="1" dirty="0">
                <a:ea typeface="ＭＳ Ｐゴシック" panose="020B0600070205080204" pitchFamily="34" charset="-128"/>
              </a:rPr>
              <a:t>external sort-merge </a:t>
            </a:r>
            <a:r>
              <a:rPr lang="en-US" altLang="ja-JP" sz="2200" dirty="0">
                <a:ea typeface="ＭＳ Ｐゴシック" panose="020B0600070205080204" pitchFamily="34" charset="-128"/>
              </a:rPr>
              <a:t>is a good choice. 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pPr marL="355600" indent="-355600">
              <a:buSzPct val="100000"/>
              <a:buFont typeface="Wingdings" pitchFamily="2" charset="2"/>
              <a:buChar char="q"/>
            </a:pP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AE37E0-2FEF-0BAF-118E-0D6CD621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828810"/>
            <a:ext cx="4263390" cy="4411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922774-371B-DACE-D23D-04608E022802}"/>
              </a:ext>
            </a:extLst>
          </p:cNvPr>
          <p:cNvSpPr txBox="1"/>
          <p:nvPr/>
        </p:nvSpPr>
        <p:spPr>
          <a:xfrm>
            <a:off x="8275320" y="6353294"/>
            <a:ext cx="311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Example- External sort merge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Example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relational algebra → operator tree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8610" y="2028663"/>
            <a:ext cx="4812030" cy="2806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/>
              <a:t>SQL-</a:t>
            </a:r>
          </a:p>
          <a:p>
            <a:pPr marL="0" indent="0">
              <a:buNone/>
            </a:pPr>
            <a:r>
              <a:rPr lang="en-US" sz="1800" dirty="0"/>
              <a:t>SELECT Dept, AVG(Marks) FROM Student WHERE Marks &gt; 80 GROUP BY Dept ORDER BY Dept;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Relational algebra –</a:t>
            </a:r>
          </a:p>
          <a:p>
            <a:pPr marL="0" indent="0">
              <a:buNone/>
            </a:pPr>
            <a:r>
              <a:rPr lang="en-US" sz="1800" dirty="0"/>
              <a:t>SORT Dept (</a:t>
            </a:r>
            <a:r>
              <a:rPr lang="el-GR" sz="1800" dirty="0"/>
              <a:t>γ </a:t>
            </a:r>
            <a:r>
              <a:rPr lang="en-US" sz="1800" dirty="0"/>
              <a:t>Dept, AVG(Marks) (</a:t>
            </a:r>
            <a:r>
              <a:rPr lang="el-GR" sz="1800" dirty="0"/>
              <a:t>σ </a:t>
            </a:r>
            <a:r>
              <a:rPr lang="en-US" sz="1800" dirty="0"/>
              <a:t>Marks &gt; 80 (Student) 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Final Output-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23560" y="2475738"/>
            <a:ext cx="6134100" cy="414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2000" dirty="0"/>
              <a:t>Execution Flow-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/>
              <a:t>STUDENT TABLE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Selection (Marks &gt; 80)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Projection (Dept, Marks)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External Merge Sort (Dept)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GROUP BY Dept + AVG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Final Result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EC730B-1741-0BCC-DCC1-D3ACE16E8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47557"/>
              </p:ext>
            </p:extLst>
          </p:nvPr>
        </p:nvGraphicFramePr>
        <p:xfrm>
          <a:off x="434340" y="4991321"/>
          <a:ext cx="3703320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44710">
                  <a:extLst>
                    <a:ext uri="{9D8B030D-6E8A-4147-A177-3AD203B41FA5}">
                      <a16:colId xmlns:a16="http://schemas.microsoft.com/office/drawing/2014/main" val="825241164"/>
                    </a:ext>
                  </a:extLst>
                </a:gridCol>
                <a:gridCol w="2058610">
                  <a:extLst>
                    <a:ext uri="{9D8B030D-6E8A-4147-A177-3AD203B41FA5}">
                      <a16:colId xmlns:a16="http://schemas.microsoft.com/office/drawing/2014/main" val="147973478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lang="en-IN" sz="1800"/>
                        <a:t>Dept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AVG (Marks)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2460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86.67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6045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92.00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487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CF02B93-579D-E74C-D3EC-076D8ADCA346}"/>
              </a:ext>
            </a:extLst>
          </p:cNvPr>
          <p:cNvSpPr txBox="1">
            <a:spLocks/>
          </p:cNvSpPr>
          <p:nvPr/>
        </p:nvSpPr>
        <p:spPr>
          <a:xfrm>
            <a:off x="1783080" y="601218"/>
            <a:ext cx="8229600" cy="90754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Further Reading and Practice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D297505-3CE5-7A30-2CD9-285E31F78931}"/>
              </a:ext>
            </a:extLst>
          </p:cNvPr>
          <p:cNvSpPr txBox="1">
            <a:spLocks/>
          </p:cNvSpPr>
          <p:nvPr/>
        </p:nvSpPr>
        <p:spPr>
          <a:xfrm>
            <a:off x="872067" y="2675467"/>
            <a:ext cx="10820823" cy="3450696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Silberschatz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A.,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Korth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H. F., &amp; Sudarshan, S. (2020). Database System Concepts (7th ed.). McGraw-Hill. (Part six, Chapter 15. Query processing page no-689 to 740)</a:t>
            </a:r>
          </a:p>
          <a:p>
            <a:r>
              <a:rPr lang="en-IN" b="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Rupley</a:t>
            </a:r>
            <a:r>
              <a:rPr lang="en-IN" b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Jr, Michael L. "Introduction to query processing and optimization." Indiana University at South Bend (2008).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Practice with SQL compiler Such as MySQL, </a:t>
            </a:r>
            <a:r>
              <a:rPr lang="en-IN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</a:p>
          <a:p>
            <a:pPr lvl="1"/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compiler - </a:t>
            </a:r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https://sqlfiddle.com/</a:t>
            </a:r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514600" lvl="8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https://sqlzoo.net/wiki/SQL_Tutorial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528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1096</TotalTime>
  <Words>831</Words>
  <Application>Microsoft Macintosh PowerPoint</Application>
  <PresentationFormat>Widescreen</PresentationFormat>
  <Paragraphs>98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ＭＳ Ｐゴシック</vt:lpstr>
      <vt:lpstr>Calibri</vt:lpstr>
      <vt:lpstr>Candara</vt:lpstr>
      <vt:lpstr>Courier New</vt:lpstr>
      <vt:lpstr>Symbol</vt:lpstr>
      <vt:lpstr>Times New Roman</vt:lpstr>
      <vt:lpstr>Wingdings</vt:lpstr>
      <vt:lpstr>Waveform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5104</cp:lastModifiedBy>
  <cp:revision>137</cp:revision>
  <dcterms:created xsi:type="dcterms:W3CDTF">2025-12-19T07:01:46Z</dcterms:created>
  <dcterms:modified xsi:type="dcterms:W3CDTF">2026-01-05T06:11:45Z</dcterms:modified>
</cp:coreProperties>
</file>
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0" r:id="rId14"/>
    <p:sldId id="268" r:id="rId15"/>
    <p:sldId id="302" r:id="rId16"/>
    <p:sldId id="308" r:id="rId17"/>
    <p:sldId id="269" r:id="rId18"/>
    <p:sldId id="270" r:id="rId19"/>
    <p:sldId id="303" r:id="rId20"/>
    <p:sldId id="271" r:id="rId21"/>
    <p:sldId id="304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301" r:id="rId31"/>
    <p:sldId id="280" r:id="rId32"/>
    <p:sldId id="305" r:id="rId33"/>
    <p:sldId id="281" r:id="rId34"/>
    <p:sldId id="282" r:id="rId35"/>
    <p:sldId id="283" r:id="rId36"/>
    <p:sldId id="307" r:id="rId37"/>
    <p:sldId id="306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7" r:id="rId48"/>
    <p:sldId id="299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5"/>
  </p:normalViewPr>
  <p:slideViewPr>
    <p:cSldViewPr snapToGrid="0" snapToObjects="1">
      <p:cViewPr varScale="1">
        <p:scale>
          <a:sx n="105" d="100"/>
          <a:sy n="105" d="100"/>
        </p:scale>
        <p:origin x="18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E38F3-9EE7-5543-8D5F-D39003EBB0D6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A25C6-1882-444A-B5E0-BF13E892A2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04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A25C6-1882-444A-B5E0-BF13E892A2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14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sqlfiddle.com/" TargetMode="External"/><Relationship Id="rId2" Type="http://schemas.openxmlformats.org/officeDocument/2006/relationships/hyperlink" Target="https://www.geeksforgeeks.org/dbms/transaction-managemen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qlzoo.net/wiki/SQL_Tutor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53449"/>
            <a:ext cx="7772400" cy="1780108"/>
          </a:xfrm>
        </p:spPr>
        <p:txBody>
          <a:bodyPr>
            <a:normAutofit fontScale="90000"/>
          </a:bodyPr>
          <a:lstStyle/>
          <a:p>
            <a:r>
              <a:rPr dirty="0"/>
              <a:t>Advanced Database: Transaction Management</a:t>
            </a:r>
            <a:br>
              <a:rPr lang="en-US" dirty="0"/>
            </a:br>
            <a:r>
              <a:rPr lang="en-US" sz="3100" dirty="0"/>
              <a:t>Week -1 ,Topic – 1</a:t>
            </a:r>
            <a:endParaRPr sz="3100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B2CCD95-F72E-E242-BA1E-1FBFE99646C5}"/>
              </a:ext>
            </a:extLst>
          </p:cNvPr>
          <p:cNvSpPr txBox="1">
            <a:spLocks/>
          </p:cNvSpPr>
          <p:nvPr/>
        </p:nvSpPr>
        <p:spPr>
          <a:xfrm>
            <a:off x="579120" y="3397987"/>
            <a:ext cx="8058912" cy="13325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Transactions management - </a:t>
            </a:r>
            <a:r>
              <a:rPr lang="en-US" sz="2400" dirty="0">
                <a:ea typeface="Calibri" panose="020F0502020204030204" pitchFamily="34" charset="0"/>
              </a:rPr>
              <a:t>Transaction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&amp; </a:t>
            </a:r>
            <a:r>
              <a:rPr lang="en-US" sz="2400" dirty="0"/>
              <a:t>ACID Properties</a:t>
            </a:r>
          </a:p>
          <a:p>
            <a:r>
              <a:rPr lang="en-US" sz="2400" dirty="0"/>
              <a:t>Concurrency Control, Locking Protocols and Recovery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067" y="2675467"/>
            <a:ext cx="7408333" cy="195749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Basic Database concepts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Introduction to </a:t>
            </a:r>
            <a:r>
              <a:rPr lang="en-US" dirty="0"/>
              <a:t>T</a:t>
            </a:r>
            <a:r>
              <a:rPr dirty="0"/>
              <a:t>ransaction management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Advanced concepts in </a:t>
            </a:r>
            <a:r>
              <a:rPr lang="en-US" dirty="0"/>
              <a:t>T</a:t>
            </a:r>
            <a:r>
              <a:rPr dirty="0"/>
              <a:t>ransaction management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Transaction and ACID properties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608" y="2163402"/>
            <a:ext cx="3877056" cy="41764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Database</a:t>
            </a:r>
            <a:r>
              <a:rPr lang="en-IN" sz="18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I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database is an organized collection of related data stored electronically. Example: A student database storing roll number, name, and marks.</a:t>
            </a:r>
            <a:r>
              <a:rPr lang="en-IN" dirty="0">
                <a:effectLst/>
              </a:rPr>
              <a:t> 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Database Management System (DBMS): A DBMS is software used to create, manage, and access databases. Example: MySQL, Oracle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Functions of DBMS: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storage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security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retrieval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IN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backup</a:t>
            </a:r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endParaRPr lang="en-IN" dirty="0"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</a:t>
            </a:r>
            <a:r>
              <a:rPr lang="en-US" dirty="0"/>
              <a:t>Over</a:t>
            </a:r>
            <a:r>
              <a:rPr dirty="0"/>
              <a:t>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625C8A-8CAD-6DCE-FEF8-F217037B91A0}"/>
              </a:ext>
            </a:extLst>
          </p:cNvPr>
          <p:cNvSpPr txBox="1"/>
          <p:nvPr/>
        </p:nvSpPr>
        <p:spPr>
          <a:xfrm>
            <a:off x="4346448" y="2605633"/>
            <a:ext cx="4504944" cy="823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400" kern="100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Database System</a:t>
            </a:r>
            <a:r>
              <a:rPr lang="en-IN" sz="1400" kern="1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IN" sz="1400" dirty="0"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database system includes database + DBMS + users + hardware. Example: College student record system</a:t>
            </a:r>
            <a:r>
              <a:rPr lang="en-IN" sz="14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A24B99-6FA5-FD9C-569B-85C81AFBB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428462"/>
              </p:ext>
            </p:extLst>
          </p:nvPr>
        </p:nvGraphicFramePr>
        <p:xfrm>
          <a:off x="4439094" y="4124618"/>
          <a:ext cx="4319651" cy="1949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2993">
                  <a:extLst>
                    <a:ext uri="{9D8B030D-6E8A-4147-A177-3AD203B41FA5}">
                      <a16:colId xmlns:a16="http://schemas.microsoft.com/office/drawing/2014/main" val="543081055"/>
                    </a:ext>
                  </a:extLst>
                </a:gridCol>
                <a:gridCol w="1271682">
                  <a:extLst>
                    <a:ext uri="{9D8B030D-6E8A-4147-A177-3AD203B41FA5}">
                      <a16:colId xmlns:a16="http://schemas.microsoft.com/office/drawing/2014/main" val="4251153339"/>
                    </a:ext>
                  </a:extLst>
                </a:gridCol>
                <a:gridCol w="1694976">
                  <a:extLst>
                    <a:ext uri="{9D8B030D-6E8A-4147-A177-3AD203B41FA5}">
                      <a16:colId xmlns:a16="http://schemas.microsoft.com/office/drawing/2014/main" val="2013797018"/>
                    </a:ext>
                  </a:extLst>
                </a:gridCol>
              </a:tblGrid>
              <a:tr h="42828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Operation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Meaning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Example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0050139"/>
                  </a:ext>
                </a:extLst>
              </a:tr>
              <a:tr h="428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Selection (σ)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Select rows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Marks &gt; 60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66388254"/>
                  </a:ext>
                </a:extLst>
              </a:tr>
              <a:tr h="428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Projection (π)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Select columns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Name, Marks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6312737"/>
                  </a:ext>
                </a:extLst>
              </a:tr>
              <a:tr h="4284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Join (⨝)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>
                          <a:effectLst/>
                        </a:rPr>
                        <a:t>Combine tables</a:t>
                      </a:r>
                      <a:endParaRPr lang="en-IN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IN" sz="1600" kern="100" dirty="0">
                          <a:effectLst/>
                        </a:rPr>
                        <a:t>Student ⨝ Result</a:t>
                      </a:r>
                      <a:endParaRPr lang="en-IN" sz="16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8817828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D70ED9DC-6EE3-C78B-65FD-673E87F2F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7888" y="3515199"/>
            <a:ext cx="45049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Relational Algebra</a:t>
            </a:r>
            <a:r>
              <a:rPr lang="en-US" altLang="en-US" sz="1400" dirty="0">
                <a:solidFill>
                  <a:schemeClr val="accent1">
                    <a:lumMod val="50000"/>
                  </a:schemeClr>
                </a:solidFill>
              </a:rPr>
              <a:t>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Relational algebra is a set of operations to retrieve data from tables.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5882" y="2720064"/>
            <a:ext cx="8592236" cy="221834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dirty="0"/>
              <a:t>Logical unit of work in a database.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Sequence of read/write operations on data items.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Either all operations are done or none are done.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Example: ticket booking, online payment, fund transfer.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Transaction?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Example: Fund Transfer Transaction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785ED17-C3F2-E350-E6B4-CBCB3027A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" y="2114634"/>
            <a:ext cx="4943856" cy="45543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dirty="0"/>
              <a:t>A bank transfer where 500.000VND is transferred from Account A to Account B.</a:t>
            </a:r>
            <a:endParaRPr lang="en-US" sz="1200" dirty="0"/>
          </a:p>
          <a:p>
            <a:pPr marL="0" indent="0">
              <a:buNone/>
            </a:pPr>
            <a:r>
              <a:rPr lang="en-US" sz="1200" dirty="0"/>
              <a:t>Create Table -</a:t>
            </a:r>
          </a:p>
          <a:p>
            <a:pPr marL="0" indent="0">
              <a:buNone/>
            </a:pPr>
            <a:r>
              <a:rPr lang="en-US" sz="1200" dirty="0"/>
              <a:t>CREATE TABLE accounts (</a:t>
            </a:r>
            <a:r>
              <a:rPr lang="en-US" sz="1200" dirty="0" err="1"/>
              <a:t>account_id</a:t>
            </a:r>
            <a:r>
              <a:rPr lang="en-US" sz="1200" dirty="0"/>
              <a:t> INT PRIMARY KEY, balance DECIMAL(10,2) NOT NULL);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Insert Data</a:t>
            </a:r>
          </a:p>
          <a:p>
            <a:pPr marL="0" indent="0">
              <a:buNone/>
            </a:pPr>
            <a:r>
              <a:rPr lang="en-US" sz="1200" dirty="0"/>
              <a:t>INSERT INTO accounts VALUES (1, 1000.00);  -- Account A</a:t>
            </a:r>
          </a:p>
          <a:p>
            <a:pPr marL="0" indent="0">
              <a:buNone/>
            </a:pPr>
            <a:r>
              <a:rPr lang="en-US" sz="1200" dirty="0"/>
              <a:t>INSERT INTO accounts VALUES (2, 2000.00);  -- Account B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Begin Transaction</a:t>
            </a:r>
          </a:p>
          <a:p>
            <a:pPr marL="0" indent="0">
              <a:buNone/>
            </a:pPr>
            <a:r>
              <a:rPr lang="en-US" sz="1200" dirty="0"/>
              <a:t>BEGIN TRANSACTION;</a:t>
            </a:r>
          </a:p>
          <a:p>
            <a:pPr marL="0" indent="0">
              <a:buNone/>
            </a:pPr>
            <a:r>
              <a:rPr lang="en-US" sz="1200" dirty="0"/>
              <a:t>------ Deduct money from Account A</a:t>
            </a:r>
          </a:p>
          <a:p>
            <a:pPr marL="0" indent="0">
              <a:buNone/>
            </a:pPr>
            <a:r>
              <a:rPr lang="en-US" sz="1200" dirty="0"/>
              <a:t>UPDATE accounts</a:t>
            </a:r>
          </a:p>
          <a:p>
            <a:pPr marL="0" indent="0">
              <a:buNone/>
            </a:pPr>
            <a:r>
              <a:rPr lang="en-US" sz="1200" dirty="0"/>
              <a:t>SET balance = balance - 500</a:t>
            </a:r>
          </a:p>
          <a:p>
            <a:pPr marL="0" indent="0">
              <a:buNone/>
            </a:pPr>
            <a:r>
              <a:rPr lang="en-US" sz="1200" dirty="0"/>
              <a:t>WHERE </a:t>
            </a:r>
            <a:r>
              <a:rPr lang="en-US" sz="1200" dirty="0" err="1"/>
              <a:t>account_id</a:t>
            </a:r>
            <a:r>
              <a:rPr lang="en-US" sz="1200" dirty="0"/>
              <a:t> = 1;</a:t>
            </a:r>
          </a:p>
          <a:p>
            <a:pPr marL="0" indent="0">
              <a:buNone/>
            </a:pPr>
            <a:r>
              <a:rPr lang="en-US" sz="1200" dirty="0"/>
              <a:t>-------- Check for sufficient balance</a:t>
            </a:r>
          </a:p>
          <a:p>
            <a:pPr marL="0" indent="0">
              <a:buNone/>
            </a:pPr>
            <a:r>
              <a:rPr lang="en-US" sz="1200" dirty="0"/>
              <a:t>IF (SELECT balance FROM accounts WHERE </a:t>
            </a:r>
            <a:r>
              <a:rPr lang="en-US" sz="1200" dirty="0" err="1"/>
              <a:t>account_id</a:t>
            </a:r>
            <a:r>
              <a:rPr lang="en-US" sz="1200" dirty="0"/>
              <a:t> = 1) &lt; 0</a:t>
            </a:r>
          </a:p>
          <a:p>
            <a:pPr marL="0" indent="0">
              <a:buNone/>
            </a:pPr>
            <a:r>
              <a:rPr lang="en-US" sz="1200" dirty="0"/>
              <a:t>BEGIN</a:t>
            </a:r>
          </a:p>
          <a:p>
            <a:pPr marL="0" indent="0">
              <a:buNone/>
            </a:pPr>
            <a:r>
              <a:rPr lang="en-US" sz="1200" dirty="0"/>
              <a:t>    ROLLBACK;</a:t>
            </a:r>
          </a:p>
          <a:p>
            <a:pPr marL="0" indent="0">
              <a:buNone/>
            </a:pPr>
            <a:r>
              <a:rPr lang="en-US" sz="1200" dirty="0"/>
              <a:t>END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06FDD-BDA7-05D1-7555-BFB5C4D085AF}"/>
              </a:ext>
            </a:extLst>
          </p:cNvPr>
          <p:cNvSpPr txBox="1"/>
          <p:nvPr/>
        </p:nvSpPr>
        <p:spPr>
          <a:xfrm>
            <a:off x="5419344" y="2444187"/>
            <a:ext cx="34869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ELSE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BEGIN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   -------Add money to Account B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   UPDATE accounts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   SET balance = balance + 500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   WHERE </a:t>
            </a:r>
            <a:r>
              <a:rPr lang="en-US" sz="1200" dirty="0" err="1">
                <a:solidFill>
                  <a:schemeClr val="accent1">
                    <a:lumMod val="50000"/>
                  </a:schemeClr>
                </a:solidFill>
              </a:rPr>
              <a:t>account_id</a:t>
            </a: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= 2;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    COMMIT;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</a:rPr>
              <a:t>END;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3FBBF2-AC86-314E-73A4-5ADFC379073F}"/>
              </a:ext>
            </a:extLst>
          </p:cNvPr>
          <p:cNvSpPr txBox="1"/>
          <p:nvPr/>
        </p:nvSpPr>
        <p:spPr>
          <a:xfrm>
            <a:off x="5419344" y="4488347"/>
            <a:ext cx="34869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Failure – 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BEGIN TRANSACTION;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UPDATE accounts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SET balance = balance - 500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WHERE </a:t>
            </a:r>
            <a:r>
              <a:rPr lang="en-US" sz="1400" dirty="0" err="1">
                <a:solidFill>
                  <a:schemeClr val="accent1">
                    <a:lumMod val="50000"/>
                  </a:schemeClr>
                </a:solidFill>
              </a:rPr>
              <a:t>account_id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 = 1;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-- Simulated error occurs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ROLLBACK;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456" y="2061856"/>
            <a:ext cx="7408333" cy="22695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sz="2000" dirty="0"/>
              <a:t>Active: transaction is executing.</a:t>
            </a:r>
          </a:p>
          <a:p>
            <a:pPr>
              <a:buFont typeface="Wingdings" pitchFamily="2" charset="2"/>
              <a:buChar char="q"/>
            </a:pPr>
            <a:r>
              <a:rPr sz="2000" dirty="0"/>
              <a:t>Partially committed: last statement executed.</a:t>
            </a:r>
          </a:p>
          <a:p>
            <a:pPr>
              <a:buFont typeface="Wingdings" pitchFamily="2" charset="2"/>
              <a:buChar char="q"/>
            </a:pPr>
            <a:r>
              <a:rPr sz="2000" dirty="0"/>
              <a:t>Committed: all changes saved permanently.</a:t>
            </a:r>
          </a:p>
          <a:p>
            <a:pPr>
              <a:buFont typeface="Wingdings" pitchFamily="2" charset="2"/>
              <a:buChar char="q"/>
            </a:pPr>
            <a:r>
              <a:rPr sz="2000" dirty="0"/>
              <a:t>Failed: error detected during execution.</a:t>
            </a:r>
          </a:p>
          <a:p>
            <a:pPr>
              <a:buFont typeface="Wingdings" pitchFamily="2" charset="2"/>
              <a:buChar char="q"/>
            </a:pPr>
            <a:r>
              <a:rPr sz="2000" dirty="0"/>
              <a:t>Aborted: all changes undone; transaction rolled back.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States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36A44C7-9AC7-DE14-5B62-21848CD256FA}"/>
              </a:ext>
            </a:extLst>
          </p:cNvPr>
          <p:cNvSpPr/>
          <p:nvPr/>
        </p:nvSpPr>
        <p:spPr>
          <a:xfrm>
            <a:off x="709864" y="5125454"/>
            <a:ext cx="696534" cy="733926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7EF43-2F3E-53EE-2D6C-B10FDFC0F013}"/>
              </a:ext>
            </a:extLst>
          </p:cNvPr>
          <p:cNvSpPr txBox="1"/>
          <p:nvPr/>
        </p:nvSpPr>
        <p:spPr>
          <a:xfrm>
            <a:off x="747224" y="5373923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active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DBEDBCC-2FFE-DA86-C55E-421A09399973}"/>
              </a:ext>
            </a:extLst>
          </p:cNvPr>
          <p:cNvSpPr/>
          <p:nvPr/>
        </p:nvSpPr>
        <p:spPr>
          <a:xfrm>
            <a:off x="2990901" y="3907897"/>
            <a:ext cx="1010653" cy="100071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DF99F-BFC4-1C50-DEAB-DF345CB68B4E}"/>
              </a:ext>
            </a:extLst>
          </p:cNvPr>
          <p:cNvSpPr txBox="1"/>
          <p:nvPr/>
        </p:nvSpPr>
        <p:spPr>
          <a:xfrm>
            <a:off x="3039029" y="4136818"/>
            <a:ext cx="10198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Partially</a:t>
            </a:r>
          </a:p>
          <a:p>
            <a:r>
              <a:rPr lang="en-US" sz="1400" dirty="0"/>
              <a:t>committed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5615A01-35F5-E261-17B6-367CC687457E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1406398" y="4408252"/>
            <a:ext cx="1584503" cy="10841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F0A26B7-6387-12E5-78CA-DE595AF0C9A4}"/>
              </a:ext>
            </a:extLst>
          </p:cNvPr>
          <p:cNvSpPr/>
          <p:nvPr/>
        </p:nvSpPr>
        <p:spPr>
          <a:xfrm>
            <a:off x="3004646" y="5740631"/>
            <a:ext cx="1010653" cy="1000710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890FE9-7FA5-0DE6-2140-CAF32332DA8D}"/>
              </a:ext>
            </a:extLst>
          </p:cNvPr>
          <p:cNvSpPr txBox="1"/>
          <p:nvPr/>
        </p:nvSpPr>
        <p:spPr>
          <a:xfrm>
            <a:off x="3207645" y="6087096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failed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266F03-D594-0B61-0BF9-93F7BAA42792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1406398" y="5492417"/>
            <a:ext cx="1598248" cy="7485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07414C-8002-B7F6-8C57-6EA945500DB8}"/>
              </a:ext>
            </a:extLst>
          </p:cNvPr>
          <p:cNvCxnSpPr>
            <a:cxnSpLocks/>
            <a:stCxn id="6" idx="4"/>
            <a:endCxn id="9" idx="0"/>
          </p:cNvCxnSpPr>
          <p:nvPr/>
        </p:nvCxnSpPr>
        <p:spPr>
          <a:xfrm>
            <a:off x="3496228" y="4908607"/>
            <a:ext cx="13745" cy="83202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185CEA31-435D-87AB-C1F6-4125AC48DF06}"/>
              </a:ext>
            </a:extLst>
          </p:cNvPr>
          <p:cNvSpPr/>
          <p:nvPr/>
        </p:nvSpPr>
        <p:spPr>
          <a:xfrm>
            <a:off x="5355183" y="3853267"/>
            <a:ext cx="1010653" cy="101099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1C118C-E273-3C1F-FED1-7751F74C6BB7}"/>
              </a:ext>
            </a:extLst>
          </p:cNvPr>
          <p:cNvSpPr txBox="1"/>
          <p:nvPr/>
        </p:nvSpPr>
        <p:spPr>
          <a:xfrm>
            <a:off x="5350593" y="4212636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committed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B1D5C1-2AA8-D867-C4E5-E8E6A878F8E3}"/>
              </a:ext>
            </a:extLst>
          </p:cNvPr>
          <p:cNvSpPr/>
          <p:nvPr/>
        </p:nvSpPr>
        <p:spPr>
          <a:xfrm>
            <a:off x="5355183" y="5699087"/>
            <a:ext cx="1010653" cy="1010992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C89021-59E2-CC66-C2DE-B7619A937B37}"/>
              </a:ext>
            </a:extLst>
          </p:cNvPr>
          <p:cNvSpPr txBox="1"/>
          <p:nvPr/>
        </p:nvSpPr>
        <p:spPr>
          <a:xfrm>
            <a:off x="5464405" y="6087096"/>
            <a:ext cx="7922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aborted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D8D8AD-9EBE-E30E-9754-D8E6AB9765CF}"/>
              </a:ext>
            </a:extLst>
          </p:cNvPr>
          <p:cNvCxnSpPr>
            <a:cxnSpLocks/>
            <a:stCxn id="9" idx="6"/>
          </p:cNvCxnSpPr>
          <p:nvPr/>
        </p:nvCxnSpPr>
        <p:spPr>
          <a:xfrm flipV="1">
            <a:off x="4015299" y="6240984"/>
            <a:ext cx="1335294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54FC555-87BB-84E5-B6D4-82F58F237556}"/>
              </a:ext>
            </a:extLst>
          </p:cNvPr>
          <p:cNvCxnSpPr/>
          <p:nvPr/>
        </p:nvCxnSpPr>
        <p:spPr>
          <a:xfrm flipV="1">
            <a:off x="4010900" y="4428720"/>
            <a:ext cx="1335294" cy="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99147D-87BC-47D0-BAAD-0638CEBE50BE}"/>
              </a:ext>
            </a:extLst>
          </p:cNvPr>
          <p:cNvSpPr txBox="1"/>
          <p:nvPr/>
        </p:nvSpPr>
        <p:spPr>
          <a:xfrm>
            <a:off x="5860507" y="5123085"/>
            <a:ext cx="312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State diagram of a transaction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DC3DC0-1ADF-CAA2-AE5E-D6739FB6624C}"/>
              </a:ext>
            </a:extLst>
          </p:cNvPr>
          <p:cNvSpPr txBox="1"/>
          <p:nvPr/>
        </p:nvSpPr>
        <p:spPr>
          <a:xfrm>
            <a:off x="688287" y="4179377"/>
            <a:ext cx="14398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Read / </a:t>
            </a:r>
          </a:p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write operations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06349F-21BC-5345-EB7F-22171558468D}"/>
              </a:ext>
            </a:extLst>
          </p:cNvPr>
          <p:cNvSpPr txBox="1"/>
          <p:nvPr/>
        </p:nvSpPr>
        <p:spPr>
          <a:xfrm>
            <a:off x="1642266" y="6025541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Failure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FA27DA9-823D-1EC9-1885-D51A22D88369}"/>
              </a:ext>
            </a:extLst>
          </p:cNvPr>
          <p:cNvSpPr txBox="1"/>
          <p:nvPr/>
        </p:nvSpPr>
        <p:spPr>
          <a:xfrm>
            <a:off x="3509971" y="5116388"/>
            <a:ext cx="692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Failure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0D3468-9767-AB7C-FED4-17E5D72130AC}"/>
              </a:ext>
            </a:extLst>
          </p:cNvPr>
          <p:cNvSpPr txBox="1"/>
          <p:nvPr/>
        </p:nvSpPr>
        <p:spPr>
          <a:xfrm>
            <a:off x="4227320" y="6340747"/>
            <a:ext cx="8354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Rollback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5605E6-B6D6-6B49-6466-095127C58A9D}"/>
              </a:ext>
            </a:extLst>
          </p:cNvPr>
          <p:cNvSpPr txBox="1"/>
          <p:nvPr/>
        </p:nvSpPr>
        <p:spPr>
          <a:xfrm>
            <a:off x="4153455" y="4475372"/>
            <a:ext cx="1064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Permanent </a:t>
            </a:r>
          </a:p>
          <a:p>
            <a:r>
              <a:rPr lang="en-US" sz="1400" dirty="0">
                <a:solidFill>
                  <a:schemeClr val="accent2">
                    <a:lumMod val="50000"/>
                  </a:schemeClr>
                </a:solidFill>
              </a:rPr>
              <a:t>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 err="1"/>
              <a:t>read_item</a:t>
            </a:r>
            <a:r>
              <a:rPr dirty="0"/>
              <a:t>(X): copy X from database to local buffer.</a:t>
            </a:r>
          </a:p>
          <a:p>
            <a:pPr>
              <a:buFont typeface="Wingdings" pitchFamily="2" charset="2"/>
              <a:buChar char="q"/>
            </a:pPr>
            <a:r>
              <a:rPr dirty="0" err="1"/>
              <a:t>write_item</a:t>
            </a:r>
            <a:r>
              <a:rPr dirty="0"/>
              <a:t>(X): copy local buffer of X to database.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commit: successful end; make all changes permanent.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rollback / abort: undo all changes; restore old values.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Formal Operations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ACID Properties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94252" y="3299173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2000" dirty="0"/>
              <a:t>Atomicity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3299173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2000" dirty="0"/>
              <a:t>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83588" y="3299173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2000" dirty="0"/>
              <a:t>Isolation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88888" y="3299173"/>
            <a:ext cx="1645920" cy="6400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rPr sz="2000" dirty="0"/>
              <a:t>Durability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678A4-4BB3-E1EA-99A7-0EE93E370A03}"/>
              </a:ext>
            </a:extLst>
          </p:cNvPr>
          <p:cNvSpPr txBox="1"/>
          <p:nvPr/>
        </p:nvSpPr>
        <p:spPr>
          <a:xfrm>
            <a:off x="1484804" y="2767584"/>
            <a:ext cx="292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154158-1FB1-A5CA-D392-DD2F6C2932E0}"/>
              </a:ext>
            </a:extLst>
          </p:cNvPr>
          <p:cNvSpPr txBox="1"/>
          <p:nvPr/>
        </p:nvSpPr>
        <p:spPr>
          <a:xfrm>
            <a:off x="3465846" y="2767583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D2928E-74AF-3248-2A7E-3FC440A97FE7}"/>
              </a:ext>
            </a:extLst>
          </p:cNvPr>
          <p:cNvSpPr txBox="1"/>
          <p:nvPr/>
        </p:nvSpPr>
        <p:spPr>
          <a:xfrm>
            <a:off x="5442881" y="2767583"/>
            <a:ext cx="333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D2934-FA12-FF1E-F98B-06AFED40D06B}"/>
              </a:ext>
            </a:extLst>
          </p:cNvPr>
          <p:cNvSpPr txBox="1"/>
          <p:nvPr/>
        </p:nvSpPr>
        <p:spPr>
          <a:xfrm>
            <a:off x="7437762" y="2767583"/>
            <a:ext cx="3481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tx2">
                    <a:lumMod val="75000"/>
                  </a:schemeClr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552" y="2819520"/>
            <a:ext cx="5191848" cy="3416321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dirty="0"/>
              <a:t>Transaction is an indivisible unit.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Either all steps of a transaction happen or none happen.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No partial updates are visible in the database.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Rollback mechanism is used to restore old values.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Atomicity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199958-8853-9B58-8505-C10DA42C8AE9}"/>
              </a:ext>
            </a:extLst>
          </p:cNvPr>
          <p:cNvSpPr txBox="1"/>
          <p:nvPr/>
        </p:nvSpPr>
        <p:spPr>
          <a:xfrm>
            <a:off x="5702968" y="2875871"/>
            <a:ext cx="31464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Example –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BEGIN TRANSACTION;</a:t>
            </a:r>
          </a:p>
          <a:p>
            <a:pPr marL="0" indent="0">
              <a:buNone/>
            </a:pP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UPDATE accounts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SET balance = balance - 100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WHERE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account_id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= 'A';</a:t>
            </a:r>
          </a:p>
          <a:p>
            <a:pPr marL="0" indent="0">
              <a:buNone/>
            </a:pP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UPDATE accounts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SET balance = balance + 100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WHERE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account_id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= 'B';</a:t>
            </a:r>
          </a:p>
          <a:p>
            <a:pPr marL="0" indent="0">
              <a:buNone/>
            </a:pP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COMMIT;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2520" y="2206235"/>
            <a:ext cx="4746680" cy="296734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sz="1800" dirty="0"/>
              <a:t>Transaction must preserve all integrity constraints.</a:t>
            </a:r>
          </a:p>
          <a:p>
            <a:pPr>
              <a:buFont typeface="Wingdings" pitchFamily="2" charset="2"/>
              <a:buChar char="q"/>
            </a:pPr>
            <a:r>
              <a:rPr sz="1800" dirty="0"/>
              <a:t>Database moves from one consistent state to another.</a:t>
            </a:r>
          </a:p>
          <a:p>
            <a:pPr>
              <a:buFont typeface="Wingdings" pitchFamily="2" charset="2"/>
              <a:buChar char="q"/>
            </a:pPr>
            <a:r>
              <a:rPr sz="1800" dirty="0"/>
              <a:t>Programmer + DBMS together ensure consistency.</a:t>
            </a:r>
            <a:endParaRPr lang="en-US" sz="1800" dirty="0"/>
          </a:p>
          <a:p>
            <a:pPr marL="0" indent="0">
              <a:buNone/>
            </a:pPr>
            <a:endParaRPr lang="en-IN" sz="1800" dirty="0"/>
          </a:p>
          <a:p>
            <a:pPr>
              <a:buFont typeface="Wingdings" pitchFamily="2" charset="2"/>
              <a:buChar char="Ø"/>
            </a:pPr>
            <a:r>
              <a:rPr lang="en-IN" sz="1800" dirty="0"/>
              <a:t>Example – </a:t>
            </a:r>
          </a:p>
          <a:p>
            <a:pPr marL="0" indent="0">
              <a:buNone/>
            </a:pPr>
            <a:r>
              <a:rPr lang="en-IN" sz="1800" dirty="0"/>
              <a:t>Bank Account with Minimum Balance Rule</a:t>
            </a:r>
            <a:endParaRPr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BFEABD-AF9D-241F-E4ED-3149776FB64F}"/>
              </a:ext>
            </a:extLst>
          </p:cNvPr>
          <p:cNvSpPr txBox="1"/>
          <p:nvPr/>
        </p:nvSpPr>
        <p:spPr>
          <a:xfrm>
            <a:off x="5558589" y="2678849"/>
            <a:ext cx="330289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Account ‘A’ balance = 500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Withdraw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600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from Account A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BEGIN TRANSACTION;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UPDATE accounts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SET balance = balance - 600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WHERE 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account_id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= 'A';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COMMIT;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9A6A8-D465-2F5C-742F-327C6E69A4C7}"/>
              </a:ext>
            </a:extLst>
          </p:cNvPr>
          <p:cNvSpPr txBox="1"/>
          <p:nvPr/>
        </p:nvSpPr>
        <p:spPr>
          <a:xfrm>
            <a:off x="282520" y="5173579"/>
            <a:ext cx="49752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What happen –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New balance would be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-100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This violates the consistency rule (balance ≥ 0)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Database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rejects the transaction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B46844-27B3-3335-BFB6-FEC2BCEA0D2F}"/>
              </a:ext>
            </a:extLst>
          </p:cNvPr>
          <p:cNvSpPr txBox="1"/>
          <p:nvPr/>
        </p:nvSpPr>
        <p:spPr>
          <a:xfrm>
            <a:off x="5257800" y="5544395"/>
            <a:ext cx="36215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❌ </a:t>
            </a: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Transaction that violates constraints is </a:t>
            </a:r>
            <a:r>
              <a:rPr lang="en-IN" sz="1600" b="1" dirty="0">
                <a:solidFill>
                  <a:schemeClr val="accent1">
                    <a:lumMod val="50000"/>
                  </a:schemeClr>
                </a:solidFill>
              </a:rPr>
              <a:t>not allowed</a:t>
            </a:r>
            <a:endParaRPr lang="en-IN" sz="1600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600" dirty="0">
                <a:solidFill>
                  <a:schemeClr val="accent1">
                    <a:lumMod val="50000"/>
                  </a:schemeClr>
                </a:solidFill>
              </a:rPr>
              <a:t>✅ Database remains consistent before and after the transaction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456" y="2050541"/>
            <a:ext cx="5095597" cy="4691635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v"/>
            </a:pPr>
            <a:r>
              <a:rPr sz="1600" dirty="0"/>
              <a:t>Concurrent transactions should not interfere.</a:t>
            </a:r>
          </a:p>
          <a:p>
            <a:pPr>
              <a:buFont typeface="Wingdings" pitchFamily="2" charset="2"/>
              <a:buChar char="v"/>
            </a:pPr>
            <a:r>
              <a:rPr sz="1600" dirty="0"/>
              <a:t>Effect must be same as serial execution order.</a:t>
            </a:r>
          </a:p>
          <a:p>
            <a:pPr>
              <a:buFont typeface="Wingdings" pitchFamily="2" charset="2"/>
              <a:buChar char="v"/>
            </a:pPr>
            <a:r>
              <a:rPr sz="1600" dirty="0"/>
              <a:t>Intermediate results of a transaction are hidden.</a:t>
            </a:r>
          </a:p>
          <a:p>
            <a:pPr>
              <a:buFont typeface="Wingdings" pitchFamily="2" charset="2"/>
              <a:buChar char="v"/>
            </a:pPr>
            <a:r>
              <a:rPr sz="1600" dirty="0"/>
              <a:t>Controlled by concurrency control protocols.</a:t>
            </a:r>
            <a:endParaRPr lang="en-US" sz="1600" dirty="0"/>
          </a:p>
          <a:p>
            <a:pPr marL="0" indent="0">
              <a:buNone/>
            </a:pPr>
            <a:endParaRPr lang="en-IN" sz="1400" dirty="0"/>
          </a:p>
          <a:p>
            <a:pPr marL="0" indent="0">
              <a:buNone/>
            </a:pPr>
            <a:r>
              <a:rPr lang="en-IN" sz="1800" b="1" dirty="0"/>
              <a:t>Example- </a:t>
            </a:r>
          </a:p>
          <a:p>
            <a:pPr marL="0" indent="0">
              <a:buNone/>
            </a:pPr>
            <a:r>
              <a:rPr lang="en-IN" sz="1800" b="1" dirty="0"/>
              <a:t>Scenario: Two users booking the last train seat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Available seats = 1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Transactions : T1</a:t>
            </a:r>
          </a:p>
          <a:p>
            <a:pPr marL="301943" lvl="1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BEGIN TRANSACTION;</a:t>
            </a:r>
          </a:p>
          <a:p>
            <a:pPr marL="301943" lvl="1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SELECT seats FROM train WHERE id = 1;   -- sees 1 seat</a:t>
            </a:r>
          </a:p>
          <a:p>
            <a:pPr marL="301943" lvl="1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UPDATE train SET seats = seats - 1 WHERE id = 1;</a:t>
            </a:r>
          </a:p>
          <a:p>
            <a:pPr marL="0" indent="0">
              <a:buNone/>
            </a:pP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Transactions:  T2</a:t>
            </a:r>
          </a:p>
          <a:p>
            <a:pPr marL="301943" lvl="1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BEGIN TRANSACTION;</a:t>
            </a:r>
          </a:p>
          <a:p>
            <a:pPr marL="301943" lvl="1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SELECT seats FROM train WHERE id = 1;   -- also sees 1 seat</a:t>
            </a:r>
          </a:p>
          <a:p>
            <a:pPr marL="301943" lvl="1" indent="0">
              <a:buNone/>
            </a:pP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UPDATE train SET seats = seats - 1 WHERE id = 1;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Isolation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9EBBE-E797-C63A-B11A-E242C6156512}"/>
              </a:ext>
            </a:extLst>
          </p:cNvPr>
          <p:cNvSpPr txBox="1"/>
          <p:nvPr/>
        </p:nvSpPr>
        <p:spPr>
          <a:xfrm>
            <a:off x="5354053" y="2648362"/>
            <a:ext cx="35314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Without Isolation (Problem)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Both transactions read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1 seat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Both subtract 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itchFamily="2" charset="2"/>
              <a:buChar char="q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Final result:  Available seats = -1   ❌ (inconsistent)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E6809-01D2-BD62-3653-4AE7A5377891}"/>
              </a:ext>
            </a:extLst>
          </p:cNvPr>
          <p:cNvSpPr txBox="1"/>
          <p:nvPr/>
        </p:nvSpPr>
        <p:spPr>
          <a:xfrm>
            <a:off x="5354053" y="4807459"/>
            <a:ext cx="35314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With Isolation (Correct Behaviour)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One transaction completes first (say T1)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T2 waits or sees the updated value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457" y="2254363"/>
            <a:ext cx="4578237" cy="4350974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sz="1600" dirty="0"/>
              <a:t>Once committed, transaction changes are permanent.</a:t>
            </a:r>
          </a:p>
          <a:p>
            <a:pPr>
              <a:buFont typeface="Wingdings" pitchFamily="2" charset="2"/>
              <a:buChar char="q"/>
            </a:pPr>
            <a:r>
              <a:rPr sz="1600" dirty="0"/>
              <a:t>Results survive system and media failures.</a:t>
            </a:r>
          </a:p>
          <a:p>
            <a:pPr>
              <a:buFont typeface="Wingdings" pitchFamily="2" charset="2"/>
              <a:buChar char="q"/>
            </a:pPr>
            <a:r>
              <a:rPr sz="1600" dirty="0"/>
              <a:t>DBMS uses logging, backups, and recovery.</a:t>
            </a:r>
          </a:p>
          <a:p>
            <a:pPr>
              <a:buFont typeface="Wingdings" pitchFamily="2" charset="2"/>
              <a:buChar char="q"/>
            </a:pPr>
            <a:r>
              <a:rPr sz="1600" dirty="0"/>
              <a:t>Requires stable storage such as disk.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600" dirty="0"/>
              <a:t>Example –</a:t>
            </a:r>
          </a:p>
          <a:p>
            <a:pPr marL="0" indent="0">
              <a:buNone/>
            </a:pPr>
            <a:r>
              <a:rPr lang="en-IN" sz="1600" dirty="0"/>
              <a:t>Scenario: Saving an Online Order</a:t>
            </a:r>
          </a:p>
          <a:p>
            <a:pPr marL="0" indent="0">
              <a:buNone/>
            </a:pPr>
            <a:r>
              <a:rPr lang="en-IN" sz="1600" dirty="0"/>
              <a:t>Transactions – A customer places an order: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BEGIN TRANSACTION;</a:t>
            </a:r>
          </a:p>
          <a:p>
            <a:pPr marL="0" indent="0">
              <a:buNone/>
            </a:pPr>
            <a:r>
              <a:rPr lang="en-US" sz="1600" dirty="0"/>
              <a:t>INSERT INTO orders (</a:t>
            </a:r>
            <a:r>
              <a:rPr lang="en-US" sz="1600" dirty="0" err="1"/>
              <a:t>order_id</a:t>
            </a:r>
            <a:r>
              <a:rPr lang="en-US" sz="1600" dirty="0"/>
              <a:t>, item, quantity)</a:t>
            </a:r>
          </a:p>
          <a:p>
            <a:pPr marL="0" indent="0">
              <a:buNone/>
            </a:pPr>
            <a:r>
              <a:rPr lang="en-US" sz="1600" dirty="0"/>
              <a:t>VALUES (101, 'Laptop', 1);</a:t>
            </a:r>
          </a:p>
          <a:p>
            <a:pPr marL="0" indent="0">
              <a:buNone/>
            </a:pPr>
            <a:r>
              <a:rPr lang="en-US" sz="1600" dirty="0"/>
              <a:t>COMMIT;</a:t>
            </a:r>
            <a:endParaRPr lang="en-IN" sz="16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FF347-8CE0-4516-84B8-9C29248734B7}"/>
              </a:ext>
            </a:extLst>
          </p:cNvPr>
          <p:cNvSpPr txBox="1"/>
          <p:nvPr/>
        </p:nvSpPr>
        <p:spPr>
          <a:xfrm>
            <a:off x="4836694" y="2588204"/>
            <a:ext cx="40488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What Durability Guarantees -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The database confirms COMMIT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Immediately after, a power failure or system crash occurs.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B74EA4-88D4-D5EE-EA7D-A667F9116FA7}"/>
              </a:ext>
            </a:extLst>
          </p:cNvPr>
          <p:cNvSpPr txBox="1"/>
          <p:nvPr/>
        </p:nvSpPr>
        <p:spPr>
          <a:xfrm>
            <a:off x="4836694" y="4245184"/>
            <a:ext cx="40488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After system restart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SELECT * FROM orders WHERE </a:t>
            </a:r>
            <a:r>
              <a:rPr lang="en-IN" dirty="0" err="1">
                <a:solidFill>
                  <a:schemeClr val="accent1">
                    <a:lumMod val="50000"/>
                  </a:schemeClr>
                </a:solidFill>
              </a:rPr>
              <a:t>order_id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= 101;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Output - 101 | Laptop | 1 </a:t>
            </a:r>
          </a:p>
          <a:p>
            <a:endParaRPr lang="en-IN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3A66BE-2CAC-4161-76FB-468D238E3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4" y="2480555"/>
            <a:ext cx="8741663" cy="4517653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Ensure Data Reliability - </a:t>
            </a:r>
            <a:r>
              <a:rPr lang="en-IN" sz="1800" dirty="0"/>
              <a:t>Transactions behave predictably and correctly.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Prevent Data Inconsistency - </a:t>
            </a:r>
            <a:r>
              <a:rPr lang="en-IN" sz="1800" dirty="0"/>
              <a:t>Database always moves from one valid state to another.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Protect Against Partial Updates - </a:t>
            </a:r>
            <a:r>
              <a:rPr lang="en-IN" sz="1800" dirty="0"/>
              <a:t>Atomicity ensures all operations complete or none do.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Support Concurrent Users - </a:t>
            </a:r>
            <a:r>
              <a:rPr lang="en-IN" sz="1800" dirty="0"/>
              <a:t>Isolation prevents interference between simultaneous transactions.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Guarantee Data Persistence - </a:t>
            </a:r>
            <a:r>
              <a:rPr lang="en-IN" sz="1800" dirty="0"/>
              <a:t>Durability ensures committed data is not lost after failures.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Enable Safe Recovery from Failures - </a:t>
            </a:r>
            <a:r>
              <a:rPr lang="en-IN" sz="1800" dirty="0"/>
              <a:t>Databases can recover after crashes or power loss.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Build User Trust - </a:t>
            </a:r>
            <a:r>
              <a:rPr lang="en-IN" sz="1800" dirty="0"/>
              <a:t>Critical systems (banking, e-commerce) remain accurate and dependable.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sz="1800" b="1" dirty="0"/>
              <a:t>Essential for Critical Applications - </a:t>
            </a:r>
            <a:r>
              <a:rPr lang="en-IN" sz="1800" dirty="0"/>
              <a:t>Used in banking, airline reservations, healthcare, and financial systems.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AE4ABA-52AD-0D05-589C-06EE981A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effectLst/>
                <a:ea typeface="Calibri" panose="020F0502020204030204" pitchFamily="34" charset="0"/>
              </a:rPr>
              <a:t>Why are ACID properties important ?</a:t>
            </a:r>
            <a:r>
              <a:rPr lang="en-IN" sz="4000" dirty="0">
                <a:effectLst/>
              </a:rPr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6488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783751"/>
            <a:ext cx="8229599" cy="3450696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dirty="0"/>
              <a:t>Schedule: order in which operations of transactions execute.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IN" dirty="0"/>
              <a:t>It shows </a:t>
            </a:r>
            <a:r>
              <a:rPr lang="en-IN" b="1" dirty="0"/>
              <a:t>how transactions are interleaved</a:t>
            </a:r>
            <a:r>
              <a:rPr lang="en-IN" dirty="0"/>
              <a:t> when they run concurrently.</a:t>
            </a:r>
            <a:endParaRPr dirty="0"/>
          </a:p>
          <a:p>
            <a:pPr lvl="1">
              <a:buFont typeface="Wingdings" pitchFamily="2" charset="2"/>
              <a:buChar char="q"/>
            </a:pPr>
            <a:r>
              <a:rPr dirty="0"/>
              <a:t>Serial schedule: one transaction completely after another.</a:t>
            </a:r>
          </a:p>
          <a:p>
            <a:pPr lvl="1">
              <a:buFont typeface="Wingdings" pitchFamily="2" charset="2"/>
              <a:buChar char="q"/>
            </a:pPr>
            <a:r>
              <a:rPr dirty="0"/>
              <a:t>Non-serial schedule: operations interleaved.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Goal: non-serial schedule equivalent to some serial schedule.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Example –</a:t>
            </a:r>
          </a:p>
          <a:p>
            <a:pPr marL="0" indent="0">
              <a:buNone/>
            </a:pPr>
            <a:r>
              <a:rPr lang="en-IN" dirty="0"/>
              <a:t>T1: Read(A), Write(A)</a:t>
            </a:r>
            <a:br>
              <a:rPr lang="en-IN" dirty="0"/>
            </a:br>
            <a:r>
              <a:rPr lang="en-IN" dirty="0"/>
              <a:t>T2: Read(B), Write(B)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Schedule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1C64F5-62CA-6FBB-BCCF-ACB0BE1B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275" y="2260938"/>
            <a:ext cx="5882301" cy="4456853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IN" sz="2200" b="1" dirty="0"/>
              <a:t>Serializability</a:t>
            </a:r>
            <a:r>
              <a:rPr lang="en-IN" sz="2200" dirty="0"/>
              <a:t> ensures that a </a:t>
            </a:r>
            <a:r>
              <a:rPr lang="en-IN" sz="2200" b="1" dirty="0"/>
              <a:t>concurrent schedule</a:t>
            </a:r>
            <a:r>
              <a:rPr lang="en-IN" sz="2200" dirty="0"/>
              <a:t> produces the same result as a serial execution.</a:t>
            </a:r>
          </a:p>
          <a:p>
            <a:pPr>
              <a:buFont typeface="Wingdings" pitchFamily="2" charset="2"/>
              <a:buChar char="q"/>
            </a:pPr>
            <a:r>
              <a:rPr lang="en-IN" sz="2200" dirty="0"/>
              <a:t>A </a:t>
            </a:r>
            <a:r>
              <a:rPr lang="en-IN" sz="2200" b="1" dirty="0"/>
              <a:t>serial schedule</a:t>
            </a:r>
            <a:r>
              <a:rPr lang="en-IN" sz="2200" dirty="0"/>
              <a:t> executes transactions </a:t>
            </a:r>
            <a:r>
              <a:rPr lang="en-IN" sz="2200" b="1" dirty="0"/>
              <a:t>one after another</a:t>
            </a:r>
            <a:r>
              <a:rPr lang="en-IN" sz="2200" dirty="0"/>
              <a:t>, without interleaving.</a:t>
            </a:r>
          </a:p>
          <a:p>
            <a:pPr>
              <a:buFont typeface="Wingdings" pitchFamily="2" charset="2"/>
              <a:buChar char="q"/>
            </a:pPr>
            <a:r>
              <a:rPr lang="en-IN" sz="2200" dirty="0"/>
              <a:t>It is the </a:t>
            </a:r>
            <a:r>
              <a:rPr lang="en-IN" sz="2200" b="1" dirty="0"/>
              <a:t>correctness criterion</a:t>
            </a:r>
            <a:r>
              <a:rPr lang="en-IN" sz="2200" dirty="0"/>
              <a:t> for concurrent transactions.</a:t>
            </a:r>
          </a:p>
          <a:p>
            <a:pPr marL="0" indent="0">
              <a:buNone/>
            </a:pPr>
            <a:r>
              <a:rPr lang="en-IN" sz="2200" dirty="0"/>
              <a:t>Importance-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Maintains database consistency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Prevents concurrency problems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200" dirty="0"/>
              <a:t>Allows safe parallel execution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D19E8B-1827-2015-38A2-8E3D6C33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CC967F-9CCF-0B2B-7059-789FA2ED78A8}"/>
              </a:ext>
            </a:extLst>
          </p:cNvPr>
          <p:cNvSpPr txBox="1"/>
          <p:nvPr/>
        </p:nvSpPr>
        <p:spPr>
          <a:xfrm>
            <a:off x="6418749" y="2649694"/>
            <a:ext cx="247497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Example –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Transaction T1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Read(A)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Write(A)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Transaction T2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Read(A)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Write(A)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Outcome - Interleaved</a:t>
            </a:r>
          </a:p>
        </p:txBody>
      </p:sp>
    </p:spTree>
    <p:extLst>
      <p:ext uri="{BB962C8B-B14F-4D97-AF65-F5344CB8AC3E}">
        <p14:creationId xmlns:p14="http://schemas.microsoft.com/office/powerpoint/2010/main" val="175319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D4C437-47FC-8F7C-A7D2-229ABBC76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83" y="2294911"/>
            <a:ext cx="3163485" cy="298162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dirty="0"/>
              <a:t>CREATE TABLE Account (A INT);</a:t>
            </a:r>
          </a:p>
          <a:p>
            <a:pPr marL="0" indent="0">
              <a:buNone/>
            </a:pPr>
            <a:r>
              <a:rPr lang="en-US" sz="1900" dirty="0"/>
              <a:t>INSERT INTO Account VALUES (100);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2100" b="1" dirty="0"/>
              <a:t>Transactions T1</a:t>
            </a:r>
          </a:p>
          <a:p>
            <a:pPr marL="0" indent="0">
              <a:buNone/>
            </a:pPr>
            <a:r>
              <a:rPr lang="en-US" sz="2100" dirty="0"/>
              <a:t>BEGIN;</a:t>
            </a:r>
          </a:p>
          <a:p>
            <a:pPr marL="0" indent="0">
              <a:buNone/>
            </a:pPr>
            <a:r>
              <a:rPr lang="en-US" sz="2100" dirty="0"/>
              <a:t>UPDATE Account SET A = A + 10;</a:t>
            </a:r>
          </a:p>
          <a:p>
            <a:pPr marL="0" indent="0">
              <a:buNone/>
            </a:pPr>
            <a:r>
              <a:rPr lang="en-US" sz="2100" dirty="0"/>
              <a:t>COMMIT;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2100" b="1" dirty="0"/>
              <a:t>Transactions T2</a:t>
            </a:r>
          </a:p>
          <a:p>
            <a:pPr marL="0" indent="0">
              <a:buNone/>
            </a:pPr>
            <a:r>
              <a:rPr lang="en-US" sz="2100" dirty="0"/>
              <a:t>BEGIN;</a:t>
            </a:r>
          </a:p>
          <a:p>
            <a:pPr marL="0" indent="0">
              <a:buNone/>
            </a:pPr>
            <a:r>
              <a:rPr lang="en-US" sz="2100" dirty="0"/>
              <a:t>UPDATE Account SET A = A * 2;</a:t>
            </a:r>
          </a:p>
          <a:p>
            <a:pPr marL="0" indent="0">
              <a:buNone/>
            </a:pPr>
            <a:r>
              <a:rPr lang="en-US" sz="2100" dirty="0"/>
              <a:t>COMMIT;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3EE6BA-EDF2-1DA6-F745-7317BFC6E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with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C73D56-21DD-1DA5-25A3-35546DEF02AA}"/>
              </a:ext>
            </a:extLst>
          </p:cNvPr>
          <p:cNvSpPr txBox="1"/>
          <p:nvPr/>
        </p:nvSpPr>
        <p:spPr>
          <a:xfrm>
            <a:off x="3210849" y="2721987"/>
            <a:ext cx="316348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Non-Serial Schedule (Interleaved)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T1: BEGIN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T1: READ(A)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T2: BEGIN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T2: READ(A)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T1: WRITE(A = A + 10)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T2: WRITE(A = A * 2)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T1: COMMIT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T2: COMMIT</a:t>
            </a:r>
          </a:p>
          <a:p>
            <a:r>
              <a:rPr lang="en-IN" sz="1600" dirty="0">
                <a:solidFill>
                  <a:schemeClr val="tx2">
                    <a:lumMod val="75000"/>
                  </a:schemeClr>
                </a:solidFill>
              </a:rPr>
              <a:t>Final value of 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A = 200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081B7-D7ED-5E16-5F5A-6342B3C07627}"/>
              </a:ext>
            </a:extLst>
          </p:cNvPr>
          <p:cNvSpPr txBox="1"/>
          <p:nvPr/>
        </p:nvSpPr>
        <p:spPr>
          <a:xfrm>
            <a:off x="6266214" y="2876178"/>
            <a:ext cx="2536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Serial schedule: T1 → T2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= (100 + 10) * 2 = 220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T2 → T1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 = (100 * 2) + 10 = 210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67B44-9CCD-26A4-80A2-3F0FEC048A7C}"/>
              </a:ext>
            </a:extLst>
          </p:cNvPr>
          <p:cNvSpPr txBox="1"/>
          <p:nvPr/>
        </p:nvSpPr>
        <p:spPr>
          <a:xfrm>
            <a:off x="6144429" y="4183276"/>
            <a:ext cx="295046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Serializable (Non-Serial) Schedule</a:t>
            </a:r>
            <a:endParaRPr lang="en-US" sz="16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T1: BEGIN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T1: READ(A)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T1: WRITE(A = A + 10)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T2: BEGIN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T2: READ(A)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T2: WRITE(A = A * 2)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T1: COMMIT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T2: COMMIT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81FA55-9F4F-052F-AE37-455D0C4725B1}"/>
              </a:ext>
            </a:extLst>
          </p:cNvPr>
          <p:cNvSpPr txBox="1"/>
          <p:nvPr/>
        </p:nvSpPr>
        <p:spPr>
          <a:xfrm>
            <a:off x="2791968" y="5934897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Output: A = (100 + 10) * 2 = 220</a:t>
            </a:r>
          </a:p>
          <a:p>
            <a:r>
              <a:rPr lang="en-IN" sz="1600" dirty="0">
                <a:solidFill>
                  <a:schemeClr val="tx2">
                    <a:lumMod val="75000"/>
                  </a:schemeClr>
                </a:solidFill>
              </a:rPr>
              <a:t>Equivalent to </a:t>
            </a:r>
            <a:r>
              <a:rPr lang="en-IN" sz="1600" b="1" dirty="0">
                <a:solidFill>
                  <a:schemeClr val="tx2">
                    <a:lumMod val="75000"/>
                  </a:schemeClr>
                </a:solidFill>
              </a:rPr>
              <a:t>serial order T1 → T2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7973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883" y="2590123"/>
            <a:ext cx="8332893" cy="34506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IN" dirty="0"/>
              <a:t>A schedule is </a:t>
            </a:r>
            <a:r>
              <a:rPr lang="en-IN" b="1" dirty="0"/>
              <a:t>conflict serializable</a:t>
            </a:r>
            <a:r>
              <a:rPr lang="en-IN" dirty="0"/>
              <a:t> if it can be transformed into a </a:t>
            </a:r>
            <a:r>
              <a:rPr lang="en-IN" b="1" dirty="0"/>
              <a:t>serial schedule</a:t>
            </a:r>
            <a:r>
              <a:rPr lang="en-IN" dirty="0"/>
              <a:t> by </a:t>
            </a:r>
            <a:r>
              <a:rPr lang="en-IN" b="1" dirty="0"/>
              <a:t>swapping non-conflicting operations</a:t>
            </a:r>
            <a:r>
              <a:rPr lang="en-IN" dirty="0"/>
              <a:t> without changing the result.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dirty="0"/>
              <a:t>Two operations conflict if: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Different transactions;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Access same data item;</a:t>
            </a:r>
          </a:p>
          <a:p>
            <a:pPr lvl="1">
              <a:buFont typeface="Wingdings" pitchFamily="2" charset="2"/>
              <a:buChar char="ü"/>
            </a:pPr>
            <a:r>
              <a:rPr dirty="0"/>
              <a:t>At least one is write.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Conflicts used to test conflict-serializability.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Conflicting Operations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Node for each transaction (T1, T2, ...).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Edge T</a:t>
            </a:r>
            <a:r>
              <a:rPr lang="en-US" baseline="-25000" dirty="0"/>
              <a:t>i</a:t>
            </a:r>
            <a:r>
              <a:rPr dirty="0"/>
              <a:t> → </a:t>
            </a:r>
            <a:r>
              <a:rPr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IN" dirty="0"/>
              <a:t>, if a conflicting operation of T</a:t>
            </a:r>
            <a:r>
              <a:rPr lang="en-IN" baseline="-25000" dirty="0"/>
              <a:t>i</a:t>
            </a:r>
            <a:r>
              <a:rPr lang="en-IN" dirty="0"/>
              <a:t> appears before that of </a:t>
            </a:r>
            <a:r>
              <a:rPr lang="en-IN" dirty="0" err="1"/>
              <a:t>T</a:t>
            </a:r>
            <a:r>
              <a:rPr lang="en-IN" baseline="-25000" dirty="0" err="1"/>
              <a:t>j</a:t>
            </a:r>
            <a:r>
              <a:rPr lang="en-IN" dirty="0"/>
              <a:t> in the schedule. 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Schedule is conflict-serializable if graph has no cycle.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Cycle indicates schedule is not </a:t>
            </a:r>
            <a:r>
              <a:rPr lang="en-US" dirty="0"/>
              <a:t>conflict </a:t>
            </a:r>
            <a:r>
              <a:rPr dirty="0"/>
              <a:t>serializable.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Precedence Graph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5E967D-9A4C-CD83-B72F-4DB9027CA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772" y="1966977"/>
            <a:ext cx="2687996" cy="311708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sz="3400" b="1" dirty="0"/>
              <a:t>1.  Atomicity – Bank money transfer</a:t>
            </a:r>
          </a:p>
          <a:p>
            <a:pPr marL="457200" indent="-457200">
              <a:buAutoNum type="arabicPeriod"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BEGIN TRANSACTION</a:t>
            </a:r>
          </a:p>
          <a:p>
            <a:pPr marL="0" indent="0">
              <a:buNone/>
            </a:pPr>
            <a:r>
              <a:rPr lang="en-US" sz="3400" dirty="0"/>
              <a:t>UPDATE account</a:t>
            </a:r>
          </a:p>
          <a:p>
            <a:pPr marL="0" indent="0">
              <a:buNone/>
            </a:pPr>
            <a:r>
              <a:rPr lang="en-US" sz="3400" dirty="0"/>
              <a:t>SET balance = balance - 100</a:t>
            </a:r>
          </a:p>
          <a:p>
            <a:pPr marL="0" indent="0">
              <a:buNone/>
            </a:pPr>
            <a:r>
              <a:rPr lang="en-US" sz="3400" dirty="0"/>
              <a:t>WHERE </a:t>
            </a:r>
            <a:r>
              <a:rPr lang="en-US" sz="3400" dirty="0" err="1"/>
              <a:t>acc_id</a:t>
            </a:r>
            <a:r>
              <a:rPr lang="en-US" sz="3400" dirty="0"/>
              <a:t> = 1;</a:t>
            </a:r>
          </a:p>
          <a:p>
            <a:pPr marL="0" indent="0">
              <a:buNone/>
            </a:pPr>
            <a:r>
              <a:rPr lang="en-US" sz="3400" dirty="0"/>
              <a:t>UPDATE account</a:t>
            </a:r>
          </a:p>
          <a:p>
            <a:pPr marL="0" indent="0">
              <a:buNone/>
            </a:pPr>
            <a:r>
              <a:rPr lang="en-US" sz="3400" dirty="0"/>
              <a:t>SET balance = balance + 100</a:t>
            </a:r>
          </a:p>
          <a:p>
            <a:pPr marL="0" indent="0">
              <a:buNone/>
            </a:pPr>
            <a:r>
              <a:rPr lang="en-US" sz="3400" dirty="0"/>
              <a:t>WHERE </a:t>
            </a:r>
            <a:r>
              <a:rPr lang="en-US" sz="3400" dirty="0" err="1"/>
              <a:t>acc_id</a:t>
            </a:r>
            <a:r>
              <a:rPr lang="en-US" sz="3400" dirty="0"/>
              <a:t> = 2;</a:t>
            </a:r>
          </a:p>
          <a:p>
            <a:pPr marL="0" indent="0">
              <a:buNone/>
            </a:pPr>
            <a:r>
              <a:rPr lang="en-US" sz="3400" dirty="0"/>
              <a:t>COMMIT;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70E215-943C-A5DF-72A4-12B4F1E67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Scenario for ACID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21643A0F-23F9-1D73-8A8E-6C2AB46102B6}"/>
              </a:ext>
            </a:extLst>
          </p:cNvPr>
          <p:cNvSpPr txBox="1">
            <a:spLocks/>
          </p:cNvSpPr>
          <p:nvPr/>
        </p:nvSpPr>
        <p:spPr>
          <a:xfrm>
            <a:off x="1754453" y="4415537"/>
            <a:ext cx="2304629" cy="24424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300" b="1" dirty="0"/>
              <a:t>2.  Consistency (Rules Must Be Followed) –  minimum Balance rule</a:t>
            </a:r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/>
              <a:t>CHECK (balance &gt;= 0)</a:t>
            </a:r>
          </a:p>
          <a:p>
            <a:pPr marL="0" indent="0">
              <a:buNone/>
            </a:pPr>
            <a:r>
              <a:rPr lang="en-US" sz="2300" dirty="0"/>
              <a:t>UPDATE account</a:t>
            </a:r>
          </a:p>
          <a:p>
            <a:pPr marL="0" indent="0">
              <a:buNone/>
            </a:pPr>
            <a:r>
              <a:rPr lang="en-US" sz="2300" dirty="0"/>
              <a:t>SET balance = balance - 5000</a:t>
            </a:r>
          </a:p>
          <a:p>
            <a:pPr marL="0" indent="0">
              <a:buNone/>
            </a:pPr>
            <a:r>
              <a:rPr lang="en-US" sz="2300" dirty="0"/>
              <a:t>WHERE </a:t>
            </a:r>
            <a:r>
              <a:rPr lang="en-US" sz="2300" dirty="0" err="1"/>
              <a:t>acc_id</a:t>
            </a:r>
            <a:r>
              <a:rPr lang="en-US" sz="2300" dirty="0"/>
              <a:t> = 1;</a:t>
            </a:r>
          </a:p>
          <a:p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BFBAD8DE-A23A-6183-1250-CDFA2DBD9BE7}"/>
              </a:ext>
            </a:extLst>
          </p:cNvPr>
          <p:cNvSpPr txBox="1">
            <a:spLocks/>
          </p:cNvSpPr>
          <p:nvPr/>
        </p:nvSpPr>
        <p:spPr>
          <a:xfrm>
            <a:off x="4221394" y="2520020"/>
            <a:ext cx="2687995" cy="4270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6400" b="1" dirty="0"/>
              <a:t>3. Isolation - Two Users Booking Same Seat</a:t>
            </a:r>
            <a:endParaRPr lang="en-US" sz="6400" b="1" dirty="0"/>
          </a:p>
          <a:p>
            <a:pPr marL="0" indent="0">
              <a:buNone/>
            </a:pPr>
            <a:endParaRPr lang="en-US" sz="5600" dirty="0"/>
          </a:p>
          <a:p>
            <a:pPr marL="0" indent="0">
              <a:buNone/>
            </a:pPr>
            <a:r>
              <a:rPr lang="en-US" sz="6400" dirty="0"/>
              <a:t>T1 </a:t>
            </a:r>
          </a:p>
          <a:p>
            <a:pPr marL="0" indent="0">
              <a:buNone/>
            </a:pPr>
            <a:r>
              <a:rPr lang="en-US" sz="6400" dirty="0"/>
              <a:t>BEGIN TRANSACTION;</a:t>
            </a:r>
          </a:p>
          <a:p>
            <a:pPr marL="0" indent="0">
              <a:buNone/>
            </a:pPr>
            <a:r>
              <a:rPr lang="en-US" sz="6400" dirty="0"/>
              <a:t>SELECT seats FROM bus WHERE </a:t>
            </a:r>
            <a:r>
              <a:rPr lang="en-US" sz="6400" dirty="0" err="1"/>
              <a:t>bus_id</a:t>
            </a:r>
            <a:r>
              <a:rPr lang="en-US" sz="6400" dirty="0"/>
              <a:t> = 10;</a:t>
            </a:r>
          </a:p>
          <a:p>
            <a:pPr marL="0" indent="0">
              <a:buNone/>
            </a:pPr>
            <a:r>
              <a:rPr lang="en-US" sz="6400" dirty="0"/>
              <a:t>UPDATE bus SET seats = seats - 1 WHERE </a:t>
            </a:r>
            <a:r>
              <a:rPr lang="en-US" sz="6400" dirty="0" err="1"/>
              <a:t>bus_id</a:t>
            </a:r>
            <a:r>
              <a:rPr lang="en-US" sz="6400" dirty="0"/>
              <a:t> = 10;</a:t>
            </a:r>
          </a:p>
          <a:p>
            <a:pPr marL="0" indent="0">
              <a:buNone/>
            </a:pPr>
            <a:r>
              <a:rPr lang="en-US" sz="6400" dirty="0"/>
              <a:t>COMMIT;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dirty="0"/>
              <a:t>T2</a:t>
            </a:r>
          </a:p>
          <a:p>
            <a:pPr marL="0" indent="0">
              <a:buNone/>
            </a:pPr>
            <a:r>
              <a:rPr lang="en-US" sz="6400" dirty="0"/>
              <a:t>BEGIN TRANSACTION;</a:t>
            </a:r>
          </a:p>
          <a:p>
            <a:pPr marL="0" indent="0">
              <a:buNone/>
            </a:pPr>
            <a:r>
              <a:rPr lang="en-US" sz="6400" dirty="0"/>
              <a:t>SELECT seats FROM bus WHERE </a:t>
            </a:r>
            <a:r>
              <a:rPr lang="en-US" sz="6400" dirty="0" err="1"/>
              <a:t>bus_id</a:t>
            </a:r>
            <a:r>
              <a:rPr lang="en-US" sz="6400" dirty="0"/>
              <a:t> = 10;</a:t>
            </a:r>
          </a:p>
          <a:p>
            <a:pPr marL="0" indent="0">
              <a:buNone/>
            </a:pPr>
            <a:r>
              <a:rPr lang="en-US" sz="6400" dirty="0"/>
              <a:t>UPDATE bus SET seats = seats - 1 WHERE </a:t>
            </a:r>
            <a:r>
              <a:rPr lang="en-US" sz="6400" dirty="0" err="1"/>
              <a:t>bus_id</a:t>
            </a:r>
            <a:r>
              <a:rPr lang="en-US" sz="6400" dirty="0"/>
              <a:t> = 10;</a:t>
            </a:r>
          </a:p>
          <a:p>
            <a:pPr marL="0" indent="0">
              <a:buNone/>
            </a:pPr>
            <a:r>
              <a:rPr lang="en-US" sz="6400" dirty="0"/>
              <a:t>COMMIT;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36448ABF-23EC-D04B-A90A-7D285E5998B0}"/>
              </a:ext>
            </a:extLst>
          </p:cNvPr>
          <p:cNvSpPr txBox="1">
            <a:spLocks/>
          </p:cNvSpPr>
          <p:nvPr/>
        </p:nvSpPr>
        <p:spPr>
          <a:xfrm>
            <a:off x="6909389" y="3669792"/>
            <a:ext cx="2100841" cy="307238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1600" b="1" dirty="0"/>
              <a:t>4. Durability - Online Order Confirmation</a:t>
            </a:r>
            <a:endParaRPr lang="en-US" sz="1600" b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600" dirty="0"/>
              <a:t>BEGIN TRANSACTION;</a:t>
            </a:r>
          </a:p>
          <a:p>
            <a:pPr marL="0" indent="0">
              <a:buNone/>
            </a:pPr>
            <a:r>
              <a:rPr lang="en-US" sz="1600" dirty="0"/>
              <a:t>INSERT INTO orders VALUES (201, 'Mobile', 1);</a:t>
            </a:r>
          </a:p>
          <a:p>
            <a:pPr marL="0" indent="0">
              <a:buNone/>
            </a:pPr>
            <a:r>
              <a:rPr lang="en-US" sz="1600" dirty="0"/>
              <a:t>COMMIT;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IN" sz="1600" dirty="0"/>
              <a:t>System crash occurs after commit -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SELECT * FROM orders WHERE </a:t>
            </a:r>
            <a:r>
              <a:rPr lang="en-US" sz="1600" dirty="0" err="1"/>
              <a:t>order_id</a:t>
            </a:r>
            <a:r>
              <a:rPr lang="en-US" sz="1600" dirty="0"/>
              <a:t> = 201;</a:t>
            </a:r>
          </a:p>
        </p:txBody>
      </p:sp>
    </p:spTree>
    <p:extLst>
      <p:ext uri="{BB962C8B-B14F-4D97-AF65-F5344CB8AC3E}">
        <p14:creationId xmlns:p14="http://schemas.microsoft.com/office/powerpoint/2010/main" val="1121381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675467"/>
            <a:ext cx="8229600" cy="3844205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dirty="0"/>
              <a:t>Increase system throughput and resource usage.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Allow many users to work together.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Prevent anomalies like: lost updates, dirty reads,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unrepeatable reads and phantom reads.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IN" dirty="0"/>
              <a:t>Ensures serializability</a:t>
            </a:r>
          </a:p>
          <a:p>
            <a:pPr>
              <a:buFont typeface="Wingdings" pitchFamily="2" charset="2"/>
              <a:buChar char="q"/>
            </a:pPr>
            <a:r>
              <a:rPr lang="en-IN" dirty="0"/>
              <a:t>Improves database performance</a:t>
            </a:r>
          </a:p>
          <a:p>
            <a:pPr>
              <a:buFont typeface="Wingdings" pitchFamily="2" charset="2"/>
              <a:buChar char="q"/>
            </a:pPr>
            <a:r>
              <a:rPr lang="en-IN" dirty="0"/>
              <a:t>Provides isolation between transactions</a:t>
            </a:r>
            <a:endParaRPr lang="en-US" dirty="0"/>
          </a:p>
          <a:p>
            <a:pPr marL="0" indent="0">
              <a:buNone/>
            </a:pPr>
            <a:endParaRPr lang="en-US" b="1" i="0" dirty="0">
              <a:solidFill>
                <a:srgbClr val="273239"/>
              </a:solidFill>
              <a:effectLst/>
              <a:latin typeface="Nunito" pitchFamily="2" charset="77"/>
            </a:endParaRPr>
          </a:p>
          <a:p>
            <a:pPr marL="0" indent="0">
              <a:buNone/>
            </a:pPr>
            <a:r>
              <a:rPr lang="en-US" i="0" dirty="0">
                <a:solidFill>
                  <a:schemeClr val="accent2">
                    <a:lumMod val="50000"/>
                  </a:schemeClr>
                </a:solidFill>
                <a:effectLst/>
                <a:latin typeface="Nunito" pitchFamily="2" charset="77"/>
              </a:rPr>
              <a:t>Example -</a:t>
            </a:r>
          </a:p>
          <a:p>
            <a:pPr>
              <a:buFont typeface="Wingdings" pitchFamily="2" charset="2"/>
              <a:buChar char="Ø"/>
            </a:pPr>
            <a:r>
              <a:rPr lang="en-IN" b="1" i="0" dirty="0">
                <a:solidFill>
                  <a:schemeClr val="accent2">
                    <a:lumMod val="50000"/>
                  </a:schemeClr>
                </a:solidFill>
                <a:effectLst/>
                <a:latin typeface="Nunito" pitchFamily="2" charset="77"/>
              </a:rPr>
              <a:t>Without concurrency control:</a:t>
            </a:r>
            <a:r>
              <a:rPr lang="en-IN" b="0" i="0" dirty="0">
                <a:solidFill>
                  <a:schemeClr val="accent2">
                    <a:lumMod val="50000"/>
                  </a:schemeClr>
                </a:solidFill>
                <a:effectLst/>
                <a:latin typeface="Nunito" pitchFamily="2" charset="77"/>
              </a:rPr>
              <a:t> Two users update the same record simultaneously and one update overwrites the other.</a:t>
            </a:r>
          </a:p>
          <a:p>
            <a:pPr marL="0" indent="0" algn="l" fontAlgn="base">
              <a:buNone/>
            </a:pPr>
            <a:endParaRPr lang="en-IN" b="1" i="0" dirty="0">
              <a:solidFill>
                <a:schemeClr val="accent2">
                  <a:lumMod val="50000"/>
                </a:schemeClr>
              </a:solidFill>
              <a:effectLst/>
              <a:latin typeface="Nunito" pitchFamily="2" charset="77"/>
            </a:endParaRPr>
          </a:p>
          <a:p>
            <a:pPr algn="l" fontAlgn="base">
              <a:buFont typeface="Wingdings" pitchFamily="2" charset="2"/>
              <a:buChar char="Ø"/>
            </a:pPr>
            <a:r>
              <a:rPr lang="en-IN" b="1" i="0" dirty="0">
                <a:solidFill>
                  <a:schemeClr val="accent2">
                    <a:lumMod val="50000"/>
                  </a:schemeClr>
                </a:solidFill>
                <a:effectLst/>
                <a:latin typeface="Nunito" pitchFamily="2" charset="77"/>
              </a:rPr>
              <a:t>With concurrency control:</a:t>
            </a:r>
            <a:r>
              <a:rPr lang="en-IN" b="0" i="0" dirty="0">
                <a:solidFill>
                  <a:schemeClr val="accent2">
                    <a:lumMod val="50000"/>
                  </a:schemeClr>
                </a:solidFill>
                <a:effectLst/>
                <a:latin typeface="Nunito" pitchFamily="2" charset="77"/>
              </a:rPr>
              <a:t> The DBMS uses locks or timestamps to ensure updates occur sequentially and data remains correct.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Concurrency Control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341D41-0736-CE08-EEF0-39C970AA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Concurrency Control?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03D2F6-5E37-1C58-C590-51E5B466B1A3}"/>
              </a:ext>
            </a:extLst>
          </p:cNvPr>
          <p:cNvGraphicFramePr>
            <a:graphicFrameLocks noGrp="1"/>
          </p:cNvGraphicFramePr>
          <p:nvPr/>
        </p:nvGraphicFramePr>
        <p:xfrm>
          <a:off x="216408" y="2339848"/>
          <a:ext cx="8711184" cy="430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728">
                  <a:extLst>
                    <a:ext uri="{9D8B030D-6E8A-4147-A177-3AD203B41FA5}">
                      <a16:colId xmlns:a16="http://schemas.microsoft.com/office/drawing/2014/main" val="1351413212"/>
                    </a:ext>
                  </a:extLst>
                </a:gridCol>
                <a:gridCol w="2903728">
                  <a:extLst>
                    <a:ext uri="{9D8B030D-6E8A-4147-A177-3AD203B41FA5}">
                      <a16:colId xmlns:a16="http://schemas.microsoft.com/office/drawing/2014/main" val="1151604558"/>
                    </a:ext>
                  </a:extLst>
                </a:gridCol>
                <a:gridCol w="2903728">
                  <a:extLst>
                    <a:ext uri="{9D8B030D-6E8A-4147-A177-3AD203B41FA5}">
                      <a16:colId xmlns:a16="http://schemas.microsoft.com/office/drawing/2014/main" val="30158432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Without Concurrency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With Concurrency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621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Initial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500.000 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500.000 VND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77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Transaction A</a:t>
                      </a:r>
                    </a:p>
                    <a:p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(User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Withdraws 100.000 VND; 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Reads balance as 500.000 VND.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Calculates new balance 400.000VND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Withdraws 100.000 VND; 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Reads balance as 500.000 VND.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Calculates new balance 400.000VND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929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Transaction B</a:t>
                      </a:r>
                    </a:p>
                    <a:p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(User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Withdraws 200.000VND;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Reads balance as 500.000VND.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(before A updates), calculates 300.000VND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Waits for Transaction A to finish. 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Once A commits, reads updated balance 400.000VND,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calculates new balance 200.000VND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2429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Final updates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 writes 400.000VND.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Then, B reads overwrites with 500.000 VND (lost update issue).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 writes 400.000VND.</a:t>
                      </a:r>
                    </a:p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Then, B reads updated balance and writes 200.000 VND (consistent result).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323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Final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500.000 VND (incorrect, inconsistent).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sz="14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200.000 VND (correct, consistent).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433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2149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067" y="2675467"/>
            <a:ext cx="7138077" cy="3347381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Two transactions read same value and update it.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Update of one transaction overwrites that of other.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Final value misses one of the updates.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Occurs when no proper locking or isolation.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Concurrency problem - </a:t>
            </a:r>
            <a:r>
              <a:rPr dirty="0"/>
              <a:t>Lost Update Problem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Transaction T2 reads data written by uncommitted T1.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If T1 later rolls back, T2 used incorrect data.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Also called uncommitted dependency.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Avoided by higher isolation levels.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Dirty Read Problem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Unrepeatable read: same row read twice returns different values.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Phantom: same query returns different set of rows.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Caused by other transactions updating or inserting rows.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Avoided by stronger isolation (e.g., Serializable).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Unrepeatable Read &amp; Phantom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Read Uncommitted: may see dirty reads (lowest).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Read Committed: no dirty reads.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Repeatable Read: rows cannot change while read.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Serializable: behaves like serial schedule (strongest).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Isolation Levels (Concept)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569" y="2675467"/>
            <a:ext cx="8510016" cy="3450696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Idea: a transaction must lock data before</a:t>
            </a:r>
            <a:r>
              <a:rPr lang="en-US" dirty="0"/>
              <a:t> </a:t>
            </a:r>
            <a:r>
              <a:rPr dirty="0"/>
              <a:t>reading/writing.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Locks prevent dangerous interleaving.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When a lock is held, conflicting locks must wait.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Most common implementation: two-phase locking (2PL).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b="0" i="0" dirty="0">
                <a:solidFill>
                  <a:schemeClr val="accent2">
                    <a:lumMod val="50000"/>
                  </a:schemeClr>
                </a:solidFill>
                <a:effectLst/>
                <a:latin typeface="Nunito" pitchFamily="2" charset="77"/>
              </a:rPr>
              <a:t>2PL guarantees that once a transaction releases a lock, it cannot obtain any new locks</a:t>
            </a:r>
            <a:endParaRPr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Concurrency control - </a:t>
            </a:r>
            <a:r>
              <a:rPr lang="en-IN" dirty="0"/>
              <a:t>Locking protocols 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Shared lock (S): allows read only.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Exclusive lock (X): allows read + write.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Many S-locks can co-exist on same item.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Only one X-lock allowed; blocks other locks.</a:t>
            </a:r>
            <a:endParaRPr lang="en-US" dirty="0"/>
          </a:p>
          <a:p>
            <a:pPr>
              <a:buFont typeface="Wingdings" pitchFamily="2" charset="2"/>
              <a:buChar char="q"/>
            </a:pPr>
            <a:r>
              <a:rPr lang="en-IN" dirty="0"/>
              <a:t>Lock requests are made to concurrency-control manager. Transaction can proceed only after request is granted.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Types of Locks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Lock Compatibility Table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89B49C7-12AC-03A1-AE89-A54A6D76F5F8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588550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8355576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559325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849546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9908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801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56481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477069C-A455-6EEA-6B51-82E9C328F31C}"/>
              </a:ext>
            </a:extLst>
          </p:cNvPr>
          <p:cNvSpPr txBox="1"/>
          <p:nvPr/>
        </p:nvSpPr>
        <p:spPr>
          <a:xfrm>
            <a:off x="1524000" y="3701070"/>
            <a:ext cx="5986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2">
                    <a:lumMod val="50000"/>
                  </a:schemeClr>
                </a:solidFill>
              </a:rPr>
              <a:t>True : compatible, False : conflict → wait or abort.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58810B-1503-0241-E3B0-B20C25FDC85C}"/>
              </a:ext>
            </a:extLst>
          </p:cNvPr>
          <p:cNvSpPr txBox="1"/>
          <p:nvPr/>
        </p:nvSpPr>
        <p:spPr>
          <a:xfrm>
            <a:off x="457200" y="4504712"/>
            <a:ext cx="832104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A transaction may be granted a lock on an item if the requested lock is compatible with locks already held on the item by other transactions.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Any number of transactions can hold shared locks on an item.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sz="2000" dirty="0">
                <a:solidFill>
                  <a:schemeClr val="accent2">
                    <a:lumMod val="50000"/>
                  </a:schemeClr>
                </a:solidFill>
              </a:rPr>
              <a:t>But if any transaction holds an exclusive on the item no other transaction may hold any lock on the item.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296" y="2515785"/>
            <a:ext cx="7866719" cy="153382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sz="1800" dirty="0"/>
              <a:t>Each transaction has two phases</a:t>
            </a:r>
            <a:r>
              <a:rPr lang="en-US" sz="1800" dirty="0"/>
              <a:t> -</a:t>
            </a:r>
            <a:endParaRPr sz="1800" dirty="0"/>
          </a:p>
          <a:p>
            <a:pPr marL="759143" lvl="1" indent="-457200">
              <a:buFont typeface="+mj-lt"/>
              <a:buAutoNum type="arabicPeriod"/>
            </a:pPr>
            <a:r>
              <a:rPr sz="1800" dirty="0"/>
              <a:t>Growing phase: obtain locks, no release allowed.</a:t>
            </a:r>
          </a:p>
          <a:p>
            <a:pPr marL="759143" lvl="1" indent="-457200">
              <a:buFont typeface="+mj-lt"/>
              <a:buAutoNum type="arabicPeriod"/>
            </a:pPr>
            <a:r>
              <a:rPr sz="1800" dirty="0"/>
              <a:t>Shrinking phase: release locks, no new locks allowed.</a:t>
            </a:r>
          </a:p>
          <a:p>
            <a:pPr>
              <a:buFont typeface="Wingdings" pitchFamily="2" charset="2"/>
              <a:buChar char="q"/>
            </a:pPr>
            <a:r>
              <a:rPr sz="1800" dirty="0"/>
              <a:t>2PL guarantees conflict-serializability of schedules.</a:t>
            </a:r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Two-Phase Locking </a:t>
            </a:r>
            <a:r>
              <a:rPr lang="en-US" dirty="0"/>
              <a:t>protocol </a:t>
            </a:r>
            <a:r>
              <a:rPr dirty="0"/>
              <a:t>(2PL)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600EDF-AE6F-C4FE-B14A-9E80361F39A6}"/>
              </a:ext>
            </a:extLst>
          </p:cNvPr>
          <p:cNvSpPr txBox="1"/>
          <p:nvPr/>
        </p:nvSpPr>
        <p:spPr>
          <a:xfrm>
            <a:off x="553296" y="4211348"/>
            <a:ext cx="38724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Example 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Transaction T1. 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Lock-X(A)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Read(A)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Write(A)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Unlock(A)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Commit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622941-13E2-AE44-5732-265C617454DD}"/>
              </a:ext>
            </a:extLst>
          </p:cNvPr>
          <p:cNvSpPr txBox="1"/>
          <p:nvPr/>
        </p:nvSpPr>
        <p:spPr>
          <a:xfrm>
            <a:off x="4572000" y="4645015"/>
            <a:ext cx="348225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Transaction T2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(wait until T1 unlocks A)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Lock-S(A)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Read(A)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Unlock(A)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accent2">
                    <a:lumMod val="75000"/>
                  </a:schemeClr>
                </a:solidFill>
              </a:rPr>
              <a:t>Commit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E754BC-EBD1-82BE-8D7E-9B98530F6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Two-Phase Locking protocol (2PL)….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FF2DB-2BE4-9352-A5ED-96E51BE020D7}"/>
              </a:ext>
            </a:extLst>
          </p:cNvPr>
          <p:cNvSpPr txBox="1"/>
          <p:nvPr/>
        </p:nvSpPr>
        <p:spPr>
          <a:xfrm>
            <a:off x="457200" y="2734020"/>
            <a:ext cx="813816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Why Satisfy rules –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T1 acquires all locks first (growing phase)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T1 releases locks after finishing operations (shrinking phase)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No lock is acquired after a lock is released</a:t>
            </a:r>
          </a:p>
          <a:p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Result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No conflict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Schedule is conflict-serializable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</a:rPr>
              <a:t>Equivalent to serial order: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</a:rPr>
              <a:t>T1 → T2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3468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2202" y="2144581"/>
            <a:ext cx="5675037" cy="1119072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sz="2000" dirty="0"/>
              <a:t>Strict 2PL: exclusive locks released only at commit/abort.</a:t>
            </a:r>
          </a:p>
          <a:p>
            <a:pPr lvl="1">
              <a:buFont typeface="Wingdings" pitchFamily="2" charset="2"/>
              <a:buChar char="Ø"/>
            </a:pPr>
            <a:r>
              <a:rPr sz="2000" dirty="0"/>
              <a:t>Prevents cascading rollbacks (no dirty reads).</a:t>
            </a:r>
            <a:endParaRPr lang="en-US" sz="20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Strict</a:t>
            </a:r>
            <a:r>
              <a:rPr lang="en-US" dirty="0"/>
              <a:t> 2PL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E2895-6CE8-9795-7AC5-BF9BFF1EC423}"/>
              </a:ext>
            </a:extLst>
          </p:cNvPr>
          <p:cNvSpPr txBox="1"/>
          <p:nvPr/>
        </p:nvSpPr>
        <p:spPr>
          <a:xfrm>
            <a:off x="3605481" y="5665711"/>
            <a:ext cx="242594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Outcome. →</a:t>
            </a:r>
          </a:p>
          <a:p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T2 cannot see or modify uncommitted data from T1.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4D69B4-E05D-4838-FD72-883531CA947E}"/>
              </a:ext>
            </a:extLst>
          </p:cNvPr>
          <p:cNvSpPr txBox="1"/>
          <p:nvPr/>
        </p:nvSpPr>
        <p:spPr>
          <a:xfrm>
            <a:off x="131572" y="3297234"/>
            <a:ext cx="351705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Example: 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Account(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acc_id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, balance)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Initial Data</a:t>
            </a:r>
          </a:p>
          <a:p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acc_id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| balance</a:t>
            </a:r>
          </a:p>
          <a:p>
            <a:pPr marL="342900" indent="-342900">
              <a:buAutoNum type="arabicPlain"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| 1000</a:t>
            </a:r>
          </a:p>
          <a:p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Transaction T1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BEGIN;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#Acquire X lock on Account row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UPDATE Account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SET balance = balance - 100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WHERE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acc_id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= 1;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#X lock is still held here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COMMIT;   #X lock released only now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8D1A95-54EC-A7E9-475D-99DED3E582BC}"/>
              </a:ext>
            </a:extLst>
          </p:cNvPr>
          <p:cNvSpPr txBox="1"/>
          <p:nvPr/>
        </p:nvSpPr>
        <p:spPr>
          <a:xfrm>
            <a:off x="3099720" y="3263653"/>
            <a:ext cx="25359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Transaction T2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BEGIN;</a:t>
            </a:r>
          </a:p>
          <a:p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#Must WAIT until T1 commits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UPDATE Account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SET balance = balance + 50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WHERE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acc_id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= 1;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COMMIT;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0E734CE-CC6D-B08E-5A4D-FB99876CE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386088"/>
              </p:ext>
            </p:extLst>
          </p:nvPr>
        </p:nvGraphicFramePr>
        <p:xfrm>
          <a:off x="6125610" y="2607452"/>
          <a:ext cx="2712910" cy="41481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41777">
                  <a:extLst>
                    <a:ext uri="{9D8B030D-6E8A-4147-A177-3AD203B41FA5}">
                      <a16:colId xmlns:a16="http://schemas.microsoft.com/office/drawing/2014/main" val="2202993504"/>
                    </a:ext>
                  </a:extLst>
                </a:gridCol>
                <a:gridCol w="1871133">
                  <a:extLst>
                    <a:ext uri="{9D8B030D-6E8A-4147-A177-3AD203B41FA5}">
                      <a16:colId xmlns:a16="http://schemas.microsoft.com/office/drawing/2014/main" val="3374995280"/>
                    </a:ext>
                  </a:extLst>
                </a:gridCol>
              </a:tblGrid>
              <a:tr h="352081">
                <a:tc>
                  <a:txBody>
                    <a:bodyPr/>
                    <a:lstStyle/>
                    <a:p>
                      <a:r>
                        <a:rPr lang="en-IN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1977361"/>
                  </a:ext>
                </a:extLst>
              </a:tr>
              <a:tr h="616142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X-locks row </a:t>
                      </a:r>
                      <a:r>
                        <a:rPr lang="en-IN" dirty="0" err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acc_id</a:t>
                      </a:r>
                      <a:r>
                        <a:rPr lang="en-IN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=1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1446540"/>
                  </a:ext>
                </a:extLst>
              </a:tr>
              <a:tr h="616142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Updates 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10785"/>
                  </a:ext>
                </a:extLst>
              </a:tr>
              <a:tr h="616142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Tries X-lock → </a:t>
                      </a:r>
                      <a:r>
                        <a:rPr lang="en-IN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WAIT</a:t>
                      </a:r>
                      <a:endParaRPr lang="en-IN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219257"/>
                  </a:ext>
                </a:extLst>
              </a:tr>
              <a:tr h="880203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COMMIT → releases X-lock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876928"/>
                  </a:ext>
                </a:extLst>
              </a:tr>
              <a:tr h="616142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Gets X-lock → updates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9172608"/>
                  </a:ext>
                </a:extLst>
              </a:tr>
              <a:tr h="352081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COMMIT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944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0A667F-DEC8-8235-2EA4-6625739D9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699" y="2265935"/>
            <a:ext cx="6101757" cy="83129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IN" sz="1800" dirty="0"/>
              <a:t>Rigorous 2PL: both shared and exclusive locks held</a:t>
            </a:r>
          </a:p>
          <a:p>
            <a:pPr>
              <a:buFont typeface="Wingdings" pitchFamily="2" charset="2"/>
              <a:buChar char="q"/>
            </a:pPr>
            <a:r>
              <a:rPr lang="en-IN" sz="1800" dirty="0"/>
              <a:t>Until commit/abort for even stronger guarantees.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2152C3A-980A-4574-4BDF-DC92B9F9F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Rigorous 2PL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6277FD-6040-6D78-A508-810D1139BA0B}"/>
              </a:ext>
            </a:extLst>
          </p:cNvPr>
          <p:cNvSpPr txBox="1"/>
          <p:nvPr/>
        </p:nvSpPr>
        <p:spPr>
          <a:xfrm>
            <a:off x="173736" y="3060657"/>
            <a:ext cx="3581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Example: 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Transaction T1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BEGIN;</a:t>
            </a:r>
          </a:p>
          <a:p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#Acquire S lock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SELECT balance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FROM Account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WHERE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acc_id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= 1;</a:t>
            </a:r>
          </a:p>
          <a:p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#Upgrade to X lock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UPDATE Account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SET balance = balance - 100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WHERE </a:t>
            </a:r>
            <a:r>
              <a:rPr lang="en-US" sz="1600" dirty="0" err="1">
                <a:solidFill>
                  <a:schemeClr val="bg2">
                    <a:lumMod val="25000"/>
                  </a:schemeClr>
                </a:solidFill>
              </a:rPr>
              <a:t>acc_id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 = 1;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#Both S and X locks held</a:t>
            </a:r>
          </a:p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COMMIT;   -- ALL locks released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E637C-2D8F-137C-12A9-EC69BC98A0AF}"/>
              </a:ext>
            </a:extLst>
          </p:cNvPr>
          <p:cNvSpPr txBox="1"/>
          <p:nvPr/>
        </p:nvSpPr>
        <p:spPr>
          <a:xfrm>
            <a:off x="2499699" y="3060657"/>
            <a:ext cx="320615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Transaction T2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BEGIN;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#Must WAIT (even for SELECT)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SELECT balance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FROM Account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WHERE </a:t>
            </a:r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acc_id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 = 1;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COMMIT;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ED610BC-E782-2AB1-D8CB-EDDAC7C55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900078"/>
              </p:ext>
            </p:extLst>
          </p:nvPr>
        </p:nvGraphicFramePr>
        <p:xfrm>
          <a:off x="5764107" y="3429000"/>
          <a:ext cx="3206157" cy="3200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43179">
                  <a:extLst>
                    <a:ext uri="{9D8B030D-6E8A-4147-A177-3AD203B41FA5}">
                      <a16:colId xmlns:a16="http://schemas.microsoft.com/office/drawing/2014/main" val="92020745"/>
                    </a:ext>
                  </a:extLst>
                </a:gridCol>
                <a:gridCol w="2362978">
                  <a:extLst>
                    <a:ext uri="{9D8B030D-6E8A-4147-A177-3AD203B41FA5}">
                      <a16:colId xmlns:a16="http://schemas.microsoft.com/office/drawing/2014/main" val="2068041023"/>
                    </a:ext>
                  </a:extLst>
                </a:gridCol>
              </a:tblGrid>
              <a:tr h="121158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7304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S-lock on acc_id=1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796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Reads 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194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X-lock on acc_id=1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6373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Tries S-lock → </a:t>
                      </a:r>
                      <a:r>
                        <a:rPr lang="en-IN" b="1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WAIT</a:t>
                      </a:r>
                      <a:endParaRPr lang="en-IN">
                        <a:solidFill>
                          <a:schemeClr val="bg2">
                            <a:lumMod val="2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3484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COMMIT → releases all locks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5310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Reads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0442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2">
                              <a:lumMod val="25000"/>
                            </a:schemeClr>
                          </a:solidFill>
                        </a:rPr>
                        <a:t>COMMIT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11067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F1D44F5-1355-FA31-FA5C-423A2B7C924D}"/>
              </a:ext>
            </a:extLst>
          </p:cNvPr>
          <p:cNvSpPr txBox="1"/>
          <p:nvPr/>
        </p:nvSpPr>
        <p:spPr>
          <a:xfrm>
            <a:off x="5825067" y="2549235"/>
            <a:ext cx="29823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25000"/>
                  </a:schemeClr>
                </a:solidFill>
              </a:rPr>
              <a:t>Outcome</a:t>
            </a:r>
          </a:p>
          <a:p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Even </a:t>
            </a:r>
            <a:r>
              <a:rPr lang="en-IN" sz="1600" b="1" dirty="0">
                <a:solidFill>
                  <a:schemeClr val="bg2">
                    <a:lumMod val="25000"/>
                  </a:schemeClr>
                </a:solidFill>
              </a:rPr>
              <a:t>reads must wait</a:t>
            </a:r>
            <a:r>
              <a:rPr lang="en-IN" sz="1600" dirty="0">
                <a:solidFill>
                  <a:schemeClr val="bg2">
                    <a:lumMod val="25000"/>
                  </a:schemeClr>
                </a:solidFill>
              </a:rPr>
              <a:t> until T1 finishes.</a:t>
            </a:r>
            <a:endParaRPr lang="en-US" sz="16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7469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For </a:t>
            </a:r>
            <a:r>
              <a:rPr dirty="0" err="1"/>
              <a:t>read_item</a:t>
            </a:r>
            <a:r>
              <a:rPr dirty="0"/>
              <a:t>(X):</a:t>
            </a:r>
            <a:endParaRPr lang="en-US" dirty="0"/>
          </a:p>
          <a:p>
            <a:pPr marL="301943" lvl="1" indent="0">
              <a:buNone/>
            </a:pPr>
            <a:r>
              <a:rPr dirty="0"/>
              <a:t>Request shared lock S(X). Wait if not available.</a:t>
            </a:r>
            <a:endParaRPr lang="en-US" dirty="0"/>
          </a:p>
          <a:p>
            <a:pPr marL="301943" lvl="1" indent="0">
              <a:buNone/>
            </a:pPr>
            <a:r>
              <a:rPr dirty="0"/>
              <a:t>After granted, perform read(X).</a:t>
            </a:r>
            <a:endParaRPr lang="en-US" dirty="0"/>
          </a:p>
          <a:p>
            <a:pPr marL="301943" lvl="1" indent="0">
              <a:buNone/>
            </a:pPr>
            <a:endParaRPr dirty="0"/>
          </a:p>
          <a:p>
            <a:pPr>
              <a:buFont typeface="Wingdings" pitchFamily="2" charset="2"/>
              <a:buChar char="q"/>
            </a:pPr>
            <a:r>
              <a:rPr dirty="0"/>
              <a:t>For </a:t>
            </a:r>
            <a:r>
              <a:rPr dirty="0" err="1"/>
              <a:t>write_item</a:t>
            </a:r>
            <a:r>
              <a:rPr dirty="0"/>
              <a:t>(X):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Request exclusive lock X(X). Wait if not available.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dirty="0"/>
              <a:t>After granted, perform write(X). </a:t>
            </a:r>
            <a:endParaRPr lang="en-US" dirty="0"/>
          </a:p>
          <a:p>
            <a:pPr marL="0" indent="0">
              <a:buNone/>
            </a:pPr>
            <a:r>
              <a:rPr dirty="0"/>
              <a:t>Release locks at end.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Algorithm: Basic Locking Protocol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067" y="2675467"/>
            <a:ext cx="7918365" cy="345069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sz="2800" dirty="0"/>
              <a:t>T1 holds lock on A and waits for lock on B.</a:t>
            </a:r>
          </a:p>
          <a:p>
            <a:pPr>
              <a:buFont typeface="Wingdings" pitchFamily="2" charset="2"/>
              <a:buChar char="q"/>
            </a:pPr>
            <a:r>
              <a:rPr sz="2800" dirty="0"/>
              <a:t>T2 holds lock on B and waits for lock on A.</a:t>
            </a:r>
          </a:p>
          <a:p>
            <a:pPr>
              <a:buFont typeface="Wingdings" pitchFamily="2" charset="2"/>
              <a:buChar char="q"/>
            </a:pPr>
            <a:r>
              <a:rPr sz="2800" dirty="0"/>
              <a:t>Both keep waiting forever → deadlock.</a:t>
            </a:r>
          </a:p>
          <a:p>
            <a:pPr>
              <a:buFont typeface="Wingdings" pitchFamily="2" charset="2"/>
              <a:buChar char="q"/>
            </a:pPr>
            <a:r>
              <a:rPr sz="2800" dirty="0"/>
              <a:t>Need deadlock detection or prevention mechanism.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Deadlock in Locking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75466"/>
            <a:ext cx="8430767" cy="35790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dirty="0"/>
              <a:t>Detection: build wait-for graph and find cycles.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dirty="0"/>
              <a:t>If cycle exists, abort one of the transactions.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Deadlock Handling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537E8E-6C5F-172D-11D7-FD6C39961DB9}"/>
              </a:ext>
            </a:extLst>
          </p:cNvPr>
          <p:cNvSpPr/>
          <p:nvPr/>
        </p:nvSpPr>
        <p:spPr>
          <a:xfrm>
            <a:off x="670560" y="4367444"/>
            <a:ext cx="646176" cy="646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4B68B6-9677-1095-2806-48B01BE690C3}"/>
              </a:ext>
            </a:extLst>
          </p:cNvPr>
          <p:cNvSpPr/>
          <p:nvPr/>
        </p:nvSpPr>
        <p:spPr>
          <a:xfrm>
            <a:off x="1795272" y="3879764"/>
            <a:ext cx="646176" cy="646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DCB0D63-900C-84E0-4C0D-F282D482C382}"/>
              </a:ext>
            </a:extLst>
          </p:cNvPr>
          <p:cNvSpPr/>
          <p:nvPr/>
        </p:nvSpPr>
        <p:spPr>
          <a:xfrm>
            <a:off x="2919984" y="3879764"/>
            <a:ext cx="646176" cy="646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T4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E374A2-62B0-FBBA-DC65-C0FD3A633B9B}"/>
              </a:ext>
            </a:extLst>
          </p:cNvPr>
          <p:cNvCxnSpPr>
            <a:cxnSpLocks/>
            <a:stCxn id="4" idx="6"/>
            <a:endCxn id="5" idx="2"/>
          </p:cNvCxnSpPr>
          <p:nvPr/>
        </p:nvCxnSpPr>
        <p:spPr>
          <a:xfrm flipV="1">
            <a:off x="1316736" y="4202852"/>
            <a:ext cx="478536" cy="4876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794F32-E70E-59E2-232C-BA3B757AAA10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2441448" y="4202852"/>
            <a:ext cx="4785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E9B255D-EF9D-A2FB-25BC-B804AB477494}"/>
              </a:ext>
            </a:extLst>
          </p:cNvPr>
          <p:cNvSpPr/>
          <p:nvPr/>
        </p:nvSpPr>
        <p:spPr>
          <a:xfrm>
            <a:off x="1795272" y="4891023"/>
            <a:ext cx="646176" cy="646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T3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732B332-8B5B-321C-CADC-77809AF43CAE}"/>
              </a:ext>
            </a:extLst>
          </p:cNvPr>
          <p:cNvCxnSpPr>
            <a:stCxn id="4" idx="6"/>
            <a:endCxn id="14" idx="2"/>
          </p:cNvCxnSpPr>
          <p:nvPr/>
        </p:nvCxnSpPr>
        <p:spPr>
          <a:xfrm>
            <a:off x="1316736" y="4690532"/>
            <a:ext cx="478536" cy="5235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502112C-5B84-3F7B-7947-4EF4D46AAF84}"/>
              </a:ext>
            </a:extLst>
          </p:cNvPr>
          <p:cNvCxnSpPr>
            <a:stCxn id="14" idx="0"/>
            <a:endCxn id="5" idx="4"/>
          </p:cNvCxnSpPr>
          <p:nvPr/>
        </p:nvCxnSpPr>
        <p:spPr>
          <a:xfrm flipV="1">
            <a:off x="2118360" y="4525940"/>
            <a:ext cx="0" cy="3650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E028F9-C520-AFEA-2EAB-6E6CD20B6BF2}"/>
              </a:ext>
            </a:extLst>
          </p:cNvPr>
          <p:cNvSpPr txBox="1"/>
          <p:nvPr/>
        </p:nvSpPr>
        <p:spPr>
          <a:xfrm>
            <a:off x="633984" y="5613982"/>
            <a:ext cx="3182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Wait-for graph without a cycle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FE9A32C-8452-CF9E-EB69-5AF7AF3A3082}"/>
              </a:ext>
            </a:extLst>
          </p:cNvPr>
          <p:cNvSpPr/>
          <p:nvPr/>
        </p:nvSpPr>
        <p:spPr>
          <a:xfrm>
            <a:off x="4922519" y="4290661"/>
            <a:ext cx="646176" cy="646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DD36350-9741-C7B2-8A24-67015179961E}"/>
              </a:ext>
            </a:extLst>
          </p:cNvPr>
          <p:cNvSpPr/>
          <p:nvPr/>
        </p:nvSpPr>
        <p:spPr>
          <a:xfrm>
            <a:off x="6047231" y="3802981"/>
            <a:ext cx="646176" cy="646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948589-FD3C-8352-FBFC-8614CB1F2301}"/>
              </a:ext>
            </a:extLst>
          </p:cNvPr>
          <p:cNvSpPr/>
          <p:nvPr/>
        </p:nvSpPr>
        <p:spPr>
          <a:xfrm>
            <a:off x="7171943" y="3802981"/>
            <a:ext cx="646176" cy="646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T4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E490161-3E6A-AA2B-064E-4E956A386FD0}"/>
              </a:ext>
            </a:extLst>
          </p:cNvPr>
          <p:cNvCxnSpPr>
            <a:cxnSpLocks/>
            <a:stCxn id="31" idx="6"/>
            <a:endCxn id="32" idx="2"/>
          </p:cNvCxnSpPr>
          <p:nvPr/>
        </p:nvCxnSpPr>
        <p:spPr>
          <a:xfrm flipV="1">
            <a:off x="5568695" y="4126069"/>
            <a:ext cx="478536" cy="4876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1F11879-AF88-63BD-48CD-9C1D4B96EE7B}"/>
              </a:ext>
            </a:extLst>
          </p:cNvPr>
          <p:cNvCxnSpPr>
            <a:stCxn id="32" idx="6"/>
            <a:endCxn id="33" idx="2"/>
          </p:cNvCxnSpPr>
          <p:nvPr/>
        </p:nvCxnSpPr>
        <p:spPr>
          <a:xfrm>
            <a:off x="6693407" y="4126069"/>
            <a:ext cx="4785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AFEADDC7-F948-0CD4-5E21-C54B3BABB808}"/>
              </a:ext>
            </a:extLst>
          </p:cNvPr>
          <p:cNvSpPr/>
          <p:nvPr/>
        </p:nvSpPr>
        <p:spPr>
          <a:xfrm>
            <a:off x="6047231" y="4814240"/>
            <a:ext cx="646176" cy="6461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T3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7FCB2E-1490-3568-7191-6B5D5E873745}"/>
              </a:ext>
            </a:extLst>
          </p:cNvPr>
          <p:cNvCxnSpPr>
            <a:stCxn id="31" idx="6"/>
            <a:endCxn id="36" idx="2"/>
          </p:cNvCxnSpPr>
          <p:nvPr/>
        </p:nvCxnSpPr>
        <p:spPr>
          <a:xfrm>
            <a:off x="5568695" y="4613749"/>
            <a:ext cx="478536" cy="52357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EDC0F9A-4E55-E4A1-9703-E6889D30F652}"/>
              </a:ext>
            </a:extLst>
          </p:cNvPr>
          <p:cNvCxnSpPr>
            <a:stCxn id="36" idx="0"/>
            <a:endCxn id="32" idx="4"/>
          </p:cNvCxnSpPr>
          <p:nvPr/>
        </p:nvCxnSpPr>
        <p:spPr>
          <a:xfrm flipV="1">
            <a:off x="6370319" y="4449157"/>
            <a:ext cx="0" cy="36508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FB3557E-AAA9-08A4-B394-458FA1790493}"/>
              </a:ext>
            </a:extLst>
          </p:cNvPr>
          <p:cNvSpPr txBox="1"/>
          <p:nvPr/>
        </p:nvSpPr>
        <p:spPr>
          <a:xfrm>
            <a:off x="4885943" y="5537199"/>
            <a:ext cx="3182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Wait-for graph with a cycle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8403E8A-444C-A99F-BCCA-A0358D136CA2}"/>
              </a:ext>
            </a:extLst>
          </p:cNvPr>
          <p:cNvCxnSpPr>
            <a:stCxn id="33" idx="4"/>
            <a:endCxn id="36" idx="6"/>
          </p:cNvCxnSpPr>
          <p:nvPr/>
        </p:nvCxnSpPr>
        <p:spPr>
          <a:xfrm flipH="1">
            <a:off x="6693407" y="4449157"/>
            <a:ext cx="801624" cy="68817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99D822-CC7B-076B-BF47-9D4B65F6C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IN" dirty="0"/>
              <a:t>Prevention: force all locks to be requested in a fixed order or use timestamp-based rules.</a:t>
            </a:r>
          </a:p>
          <a:p>
            <a:pPr lvl="1">
              <a:buFont typeface="Wingdings" pitchFamily="2" charset="2"/>
              <a:buChar char="Ø"/>
            </a:pPr>
            <a:r>
              <a:rPr lang="en-IN" dirty="0"/>
              <a:t>wait-die scheme - non-</a:t>
            </a:r>
            <a:r>
              <a:rPr lang="en-IN" dirty="0" err="1"/>
              <a:t>preemptive</a:t>
            </a:r>
            <a:endParaRPr lang="en-IN" dirty="0"/>
          </a:p>
          <a:p>
            <a:pPr lvl="1">
              <a:buFont typeface="Wingdings" pitchFamily="2" charset="2"/>
              <a:buChar char="Ø"/>
            </a:pPr>
            <a:r>
              <a:rPr lang="en-IN" dirty="0"/>
              <a:t>wound-wait scheme - </a:t>
            </a:r>
            <a:r>
              <a:rPr lang="en-IN" dirty="0" err="1"/>
              <a:t>preemptive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Timeout-Based Schemes –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A transaction waits for a lock only for a specified amount of time.  After that, the wait times out and the transaction is rolled back.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But may roll back transaction unnecessarily in absence of deadlock.</a:t>
            </a:r>
          </a:p>
          <a:p>
            <a:pPr marL="0" indent="0">
              <a:buNone/>
            </a:pPr>
            <a:r>
              <a:rPr lang="en-IN" dirty="0"/>
              <a:t>	Difficult to determine good value of the timeout interval.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N" dirty="0"/>
              <a:t>Starvation is also possible.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A03238-E8E6-874D-6EA9-1129FA6E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Deadlock Handling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361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B4642F8-0AAC-AC63-EDC4-0EBB3FE3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Deadlock Handling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8694C-BA66-A0B2-46EB-EBBDC44EC08C}"/>
              </a:ext>
            </a:extLst>
          </p:cNvPr>
          <p:cNvSpPr txBox="1"/>
          <p:nvPr/>
        </p:nvSpPr>
        <p:spPr>
          <a:xfrm>
            <a:off x="164592" y="1921871"/>
            <a:ext cx="46878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Example -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Transactions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T1 needs Table A then Table B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T2 needs Table B then Table A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T1: Lock(A)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T2: Lock(B)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T1: Request Lock(B) → waits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T2: Request Lock(A) → waits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Deadlock occurs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 (circular wait)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Deadlock Detection (Find &amp; Fix) using Detection Using Wait-For Graph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T1  →  T2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T2  →  T1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Outcome: Cycle found → Deadlock detected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89C8BD-B2AB-551A-E668-23DF28C85C40}"/>
              </a:ext>
            </a:extLst>
          </p:cNvPr>
          <p:cNvSpPr txBox="1"/>
          <p:nvPr/>
        </p:nvSpPr>
        <p:spPr>
          <a:xfrm>
            <a:off x="4700016" y="5522856"/>
            <a:ext cx="1944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Action Taken -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DBMS aborts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T2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Releases Lock(B)</a:t>
            </a: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T1 continues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3A564B-F003-C9BE-9692-3D3A2D46CFBF}"/>
              </a:ext>
            </a:extLst>
          </p:cNvPr>
          <p:cNvSpPr txBox="1"/>
          <p:nvPr/>
        </p:nvSpPr>
        <p:spPr>
          <a:xfrm>
            <a:off x="4700016" y="2845200"/>
            <a:ext cx="41513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Deadlock Prevention (Avoid Deadlock)</a:t>
            </a:r>
          </a:p>
          <a:p>
            <a:endParaRPr lang="en-IN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Fixed order: Lock(A) → Lock(B)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T1: Lock(A) → Lock(B)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T2: Lock(A) → Lock(B)</a:t>
            </a:r>
          </a:p>
        </p:txBody>
      </p:sp>
    </p:spTree>
    <p:extLst>
      <p:ext uri="{BB962C8B-B14F-4D97-AF65-F5344CB8AC3E}">
        <p14:creationId xmlns:p14="http://schemas.microsoft.com/office/powerpoint/2010/main" val="8413604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 err="1"/>
              <a:t>Savepoint</a:t>
            </a:r>
            <a:r>
              <a:rPr dirty="0"/>
              <a:t>: named point inside a long transaction.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Allows partial rollback to a </a:t>
            </a:r>
            <a:r>
              <a:rPr dirty="0" err="1"/>
              <a:t>savepoint</a:t>
            </a:r>
            <a:r>
              <a:rPr dirty="0"/>
              <a:t> instead of full abort.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Useful for complex business logic.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SQL: SAVEPOINT sp1; ROLLBACK TO sp1;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Savepoints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main transaction may call subtransactions.</a:t>
            </a:r>
          </a:p>
          <a:p>
            <a:r>
              <a:t>Subtransaction may commit or abort independently.</a:t>
            </a:r>
          </a:p>
          <a:p>
            <a:r>
              <a:t>Overall commit depends on parent transaction.</a:t>
            </a:r>
          </a:p>
          <a:p>
            <a:r>
              <a:t>Advanced concept used in some systems.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Nested Transactions (Concept)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Guarantees atomicity and durability.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Handles failures: system crash, power failure, errors.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Uses logs, checkpoints, undo and redo operations.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Recovery manager works closely with transaction manager.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Management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Maintain a log on stable storage.</a:t>
            </a:r>
          </a:p>
          <a:p>
            <a:r>
              <a:rPr dirty="0"/>
              <a:t>Log record for update: &lt;T, X, </a:t>
            </a:r>
            <a:r>
              <a:rPr dirty="0" err="1"/>
              <a:t>old_value</a:t>
            </a:r>
            <a:r>
              <a:rPr dirty="0"/>
              <a:t>, </a:t>
            </a:r>
            <a:r>
              <a:rPr dirty="0" err="1"/>
              <a:t>new_value</a:t>
            </a:r>
            <a:r>
              <a:rPr dirty="0"/>
              <a:t>&gt;.</a:t>
            </a:r>
          </a:p>
          <a:p>
            <a:r>
              <a:rPr dirty="0"/>
              <a:t>On commit: write &lt;T, commit&gt; to log.</a:t>
            </a:r>
          </a:p>
          <a:p>
            <a:r>
              <a:rPr dirty="0"/>
              <a:t>On crash: use log to undo/redo operations.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Log-Based Recovery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Rule: log record must be written to disk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before the corresponding data is written.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Ensures that every change can be undone or redone.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Important for correct recovery.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Write-Ahead Logging (WAL)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Deferred update: all writes done in memory until commit;</a:t>
            </a:r>
          </a:p>
          <a:p>
            <a:r>
              <a:t>no uncommitted changes reach disk → only redo needed.</a:t>
            </a:r>
          </a:p>
          <a:p>
            <a:r>
              <a:t>Immediate update: writes may go to disk before commit;</a:t>
            </a:r>
          </a:p>
          <a:p>
            <a:r>
              <a:t>both undo (uncommitted) and redo (committed) may be needed.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Deferred vs Immediate Update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Checkpoint: moment when DBMS writes all dirty pages to disk.</a:t>
            </a:r>
          </a:p>
          <a:p>
            <a:r>
              <a:t>Log record &lt;CHECKPOINT, active_transactions&gt;.</a:t>
            </a:r>
          </a:p>
          <a:p>
            <a:r>
              <a:t>Speeds up recovery by limiting part of log to scan.</a:t>
            </a:r>
          </a:p>
          <a:p>
            <a:r>
              <a:t>Recovery starts from last checkpoint instead of from beginning.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Checkpoints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067" y="2675467"/>
            <a:ext cx="7930557" cy="3450696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dirty="0"/>
              <a:t>From end of log, move backward to last checkpoint.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Build set of committed and uncommitted transactions.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Undo operations of uncommitted transactions.</a:t>
            </a:r>
          </a:p>
          <a:p>
            <a:pPr>
              <a:buFont typeface="Wingdings" pitchFamily="2" charset="2"/>
              <a:buChar char="q"/>
            </a:pPr>
            <a:r>
              <a:rPr dirty="0"/>
              <a:t>Redo operations of committed transactions since checkpoint.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Recovery Algorithm (Idea)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</a:t>
            </a:r>
            <a:r>
              <a:rPr dirty="0"/>
              <a:t>Example: Simple Transaction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AEF0B-6F26-7914-A75F-E4030534738D}"/>
              </a:ext>
            </a:extLst>
          </p:cNvPr>
          <p:cNvSpPr txBox="1"/>
          <p:nvPr/>
        </p:nvSpPr>
        <p:spPr>
          <a:xfrm>
            <a:off x="231648" y="1979741"/>
            <a:ext cx="368198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BEGIN TRANSACTION;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#Deduct money from Account 1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UPDATE accounts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SET balance = balance - 100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WHERE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account_id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= 1;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#Create a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savepoint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after first update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SAVEPOINT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deduct_done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;</a:t>
            </a:r>
          </a:p>
          <a:p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#Try to add money to Account 2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UPDATE accounts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SET balance = balance + 100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WHERE 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account_id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= 2;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515ED-150F-7498-2E66-8D28F75A3130}"/>
              </a:ext>
            </a:extLst>
          </p:cNvPr>
          <p:cNvSpPr txBox="1"/>
          <p:nvPr/>
        </p:nvSpPr>
        <p:spPr>
          <a:xfrm>
            <a:off x="3816096" y="2499788"/>
            <a:ext cx="397459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#Something goes wrong → rollback to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</a:rPr>
              <a:t>savepoint</a:t>
            </a:r>
            <a:endParaRPr lang="en-US" sz="18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ROLLBACK TO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</a:rPr>
              <a:t>deduct_done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;</a:t>
            </a:r>
          </a:p>
          <a:p>
            <a:endParaRPr lang="en-US" sz="18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#Fix and try again</a:t>
            </a: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UPDATE accounts</a:t>
            </a: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SET balance = balance + 100</a:t>
            </a: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WHERE </a:t>
            </a:r>
            <a:r>
              <a:rPr lang="en-US" sz="1800" dirty="0" err="1">
                <a:solidFill>
                  <a:schemeClr val="bg2">
                    <a:lumMod val="25000"/>
                  </a:schemeClr>
                </a:solidFill>
              </a:rPr>
              <a:t>account_id</a:t>
            </a:r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 = 3;</a:t>
            </a:r>
          </a:p>
          <a:p>
            <a:endParaRPr lang="en-US" sz="1800" dirty="0">
              <a:solidFill>
                <a:schemeClr val="bg2">
                  <a:lumMod val="25000"/>
                </a:schemeClr>
              </a:solidFill>
            </a:endParaRP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#Commit final changes</a:t>
            </a:r>
          </a:p>
          <a:p>
            <a:r>
              <a:rPr lang="en-US" sz="1800" dirty="0">
                <a:solidFill>
                  <a:schemeClr val="bg2">
                    <a:lumMod val="25000"/>
                  </a:schemeClr>
                </a:solidFill>
              </a:rPr>
              <a:t>COMMIT;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62AA50-EE2C-BED3-A54D-2A5F3B5F73DF}"/>
              </a:ext>
            </a:extLst>
          </p:cNvPr>
          <p:cNvSpPr txBox="1"/>
          <p:nvPr/>
        </p:nvSpPr>
        <p:spPr>
          <a:xfrm>
            <a:off x="6400800" y="4795897"/>
            <a:ext cx="251155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BEGIN TRANSACTION;</a:t>
            </a:r>
          </a:p>
          <a:p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UPDATE accounts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SET balance = balance - 100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WHERE </a:t>
            </a:r>
            <a:r>
              <a:rPr lang="en-US" sz="1600" dirty="0" err="1">
                <a:solidFill>
                  <a:schemeClr val="tx2">
                    <a:lumMod val="75000"/>
                  </a:schemeClr>
                </a:solidFill>
              </a:rPr>
              <a:t>account_id</a:t>
            </a:r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 = 1;</a:t>
            </a:r>
          </a:p>
          <a:p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#Error occurs</a:t>
            </a:r>
          </a:p>
          <a:p>
            <a:r>
              <a:rPr lang="en-US" sz="1600" dirty="0">
                <a:solidFill>
                  <a:schemeClr val="tx2">
                    <a:lumMod val="75000"/>
                  </a:schemeClr>
                </a:solidFill>
              </a:rPr>
              <a:t>ROLLBACK;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7833" y="2912872"/>
            <a:ext cx="7408333" cy="281736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dirty="0"/>
              <a:t>Transactions group operations into safe units of work.</a:t>
            </a:r>
          </a:p>
          <a:p>
            <a:pPr>
              <a:buFont typeface="Wingdings" pitchFamily="2" charset="2"/>
              <a:buChar char="Ø"/>
            </a:pPr>
            <a:r>
              <a:rPr dirty="0"/>
              <a:t>ACID properties guarantee correctness and reliability.</a:t>
            </a:r>
            <a:endParaRPr lang="en-US" dirty="0"/>
          </a:p>
          <a:p>
            <a:pPr>
              <a:buFont typeface="Wingdings" pitchFamily="2" charset="2"/>
              <a:buChar char="Ø"/>
            </a:pPr>
            <a:r>
              <a:rPr lang="en-IN" dirty="0"/>
              <a:t>Serializability</a:t>
            </a:r>
          </a:p>
          <a:p>
            <a:pPr>
              <a:buFont typeface="Wingdings" pitchFamily="2" charset="2"/>
              <a:buChar char="Ø"/>
            </a:pPr>
            <a:r>
              <a:rPr lang="en-IN" dirty="0"/>
              <a:t>Real world scenario for various ACID</a:t>
            </a:r>
          </a:p>
          <a:p>
            <a:pPr>
              <a:buFont typeface="Wingdings" pitchFamily="2" charset="2"/>
              <a:buChar char="q"/>
            </a:pPr>
            <a:r>
              <a:rPr lang="en-IN" dirty="0"/>
              <a:t>Locks and 2PL provide isolation but can cause deadlocks.</a:t>
            </a:r>
          </a:p>
          <a:p>
            <a:pPr>
              <a:buFont typeface="Wingdings" pitchFamily="2" charset="2"/>
              <a:buChar char="q"/>
            </a:pPr>
            <a:r>
              <a:rPr lang="en-IN" dirty="0"/>
              <a:t>Recovery uses logs, WAL, and checkpoints for atomicity and durability.</a:t>
            </a:r>
          </a:p>
          <a:p>
            <a:pPr>
              <a:buFont typeface="Wingdings" pitchFamily="2" charset="2"/>
              <a:buChar char="q"/>
            </a:pPr>
            <a:r>
              <a:rPr lang="en-IN" dirty="0"/>
              <a:t>Examples help visualize transaction behaviour.</a:t>
            </a:r>
          </a:p>
          <a:p>
            <a:pPr>
              <a:buFont typeface="Wingdings" pitchFamily="2" charset="2"/>
              <a:buChar char="Ø"/>
            </a:pP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C39C32-5FE4-2126-8966-4EA1B5419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067" y="2675467"/>
            <a:ext cx="7467261" cy="2847509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Silberschatz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A., 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Korth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H. F., &amp; Sudarshan, S. (2020). Database System Concepts (7th ed.). McGraw-Hill.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Transactions management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hlinkClick r:id="rId2"/>
              </a:rPr>
              <a:t>https://www.geeksforgeeks.org/dbms/transaction-management/</a:t>
            </a:r>
            <a:endParaRPr lang="en-US" sz="1800" dirty="0">
              <a:solidFill>
                <a:schemeClr val="tx2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Transactions:</a:t>
            </a:r>
            <a:r>
              <a:rPr lang="en-IN" sz="1800" b="0" i="0" dirty="0">
                <a:solidFill>
                  <a:srgbClr val="161513"/>
                </a:solidFill>
                <a:effectLst/>
                <a:latin typeface="Oracle Sans"/>
              </a:rPr>
              <a:t> 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https://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docs.oracle.com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en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/database/oracle/oracle-database/19/</a:t>
            </a:r>
            <a:r>
              <a:rPr lang="en-US" sz="1800" dirty="0" err="1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cncpt</a:t>
            </a:r>
            <a:r>
              <a:rPr lang="en-US" sz="180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/transactions.html#GUID-7690181F-8293-47B9-ADC1-905BD9C3AF57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Practice with SQL compiler Such as MySQL, </a:t>
            </a:r>
            <a:r>
              <a:rPr lang="en-IN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PostgreSQL, </a:t>
            </a:r>
          </a:p>
          <a:p>
            <a:pPr lvl="1"/>
            <a:r>
              <a:rPr lang="en-IN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Online compiler - </a:t>
            </a:r>
            <a:r>
              <a:rPr lang="en-IN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https://sqlfiddle.com/</a:t>
            </a:r>
            <a:r>
              <a:rPr lang="en-IN" sz="1800" b="0" i="0" dirty="0">
                <a:solidFill>
                  <a:schemeClr val="tx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514600" lvl="8" indent="0">
              <a:buNone/>
            </a:pPr>
            <a:r>
              <a:rPr lang="en-US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https://sqlzoo.net/wiki/SQL_Tutorial</a:t>
            </a:r>
            <a:r>
              <a:rPr lang="en-IN" sz="18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8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5B5168-63C9-325F-A0B9-D32FB10F6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References - Further Reading and Practice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166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1351</TotalTime>
  <Words>3714</Words>
  <Application>Microsoft Macintosh PowerPoint</Application>
  <PresentationFormat>On-screen Show (4:3)</PresentationFormat>
  <Paragraphs>668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9" baseType="lpstr">
      <vt:lpstr>Aptos</vt:lpstr>
      <vt:lpstr>Arial</vt:lpstr>
      <vt:lpstr>Calibri</vt:lpstr>
      <vt:lpstr>Candara</vt:lpstr>
      <vt:lpstr>Courier New</vt:lpstr>
      <vt:lpstr>Nunito</vt:lpstr>
      <vt:lpstr>Oracle Sans</vt:lpstr>
      <vt:lpstr>Symbol</vt:lpstr>
      <vt:lpstr>Times New Roman</vt:lpstr>
      <vt:lpstr>Wingdings</vt:lpstr>
      <vt:lpstr>Waveform</vt:lpstr>
      <vt:lpstr>Advanced Database: Transaction Management Week -1 ,Topic – 1</vt:lpstr>
      <vt:lpstr>Outline</vt:lpstr>
      <vt:lpstr>Database Overview</vt:lpstr>
      <vt:lpstr>What is a Transaction?</vt:lpstr>
      <vt:lpstr>Example: Fund Transfer Transaction</vt:lpstr>
      <vt:lpstr>Transaction States</vt:lpstr>
      <vt:lpstr>Formal Operations</vt:lpstr>
      <vt:lpstr>ACID Properties</vt:lpstr>
      <vt:lpstr>Atomicity</vt:lpstr>
      <vt:lpstr>Consistency</vt:lpstr>
      <vt:lpstr>Isolation</vt:lpstr>
      <vt:lpstr>Durability</vt:lpstr>
      <vt:lpstr>Why are ACID properties important ? </vt:lpstr>
      <vt:lpstr>Schedule</vt:lpstr>
      <vt:lpstr>Serializability</vt:lpstr>
      <vt:lpstr>Understanding with Example</vt:lpstr>
      <vt:lpstr>Conflicting Operations</vt:lpstr>
      <vt:lpstr>Precedence Graph</vt:lpstr>
      <vt:lpstr>Real world Scenario for ACID</vt:lpstr>
      <vt:lpstr>Concurrency Control</vt:lpstr>
      <vt:lpstr>Why Concurrency Control? </vt:lpstr>
      <vt:lpstr>Concurrency problem - Lost Update Problem</vt:lpstr>
      <vt:lpstr>Dirty Read Problem</vt:lpstr>
      <vt:lpstr>Unrepeatable Read &amp; Phantom</vt:lpstr>
      <vt:lpstr>SQL Isolation Levels (Concept)</vt:lpstr>
      <vt:lpstr>Concurrency control - Locking protocols </vt:lpstr>
      <vt:lpstr>Types of Locks</vt:lpstr>
      <vt:lpstr>Lock Compatibility Table</vt:lpstr>
      <vt:lpstr>Two-Phase Locking protocol (2PL)</vt:lpstr>
      <vt:lpstr>Two-Phase Locking protocol (2PL)….</vt:lpstr>
      <vt:lpstr>Strict 2PL</vt:lpstr>
      <vt:lpstr>Rigorous 2PL</vt:lpstr>
      <vt:lpstr>Algorithm: Basic Locking Protocol</vt:lpstr>
      <vt:lpstr>Deadlock in Locking</vt:lpstr>
      <vt:lpstr>Deadlock Handling</vt:lpstr>
      <vt:lpstr>Deadlock Handling</vt:lpstr>
      <vt:lpstr>Deadlock Handling</vt:lpstr>
      <vt:lpstr>Savepoints</vt:lpstr>
      <vt:lpstr>Nested Transactions (Concept)</vt:lpstr>
      <vt:lpstr>Recovery Management</vt:lpstr>
      <vt:lpstr>Log-Based Recovery</vt:lpstr>
      <vt:lpstr>Write-Ahead Logging (WAL)</vt:lpstr>
      <vt:lpstr>Deferred vs Immediate Update</vt:lpstr>
      <vt:lpstr>Checkpoints</vt:lpstr>
      <vt:lpstr>Simple Recovery Algorithm (Idea)</vt:lpstr>
      <vt:lpstr>SQL Example: Simple Transaction</vt:lpstr>
      <vt:lpstr>Summary</vt:lpstr>
      <vt:lpstr>References - Further Reading and Practice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Database: Transaction Management</dc:title>
  <dc:creator>ANIRBAN</dc:creator>
  <dc:description>generated using python-pptx</dc:description>
  <cp:lastModifiedBy>5104</cp:lastModifiedBy>
  <cp:revision>118</cp:revision>
  <dcterms:created xsi:type="dcterms:W3CDTF">2013-01-27T09:14:16Z</dcterms:created>
  <dcterms:modified xsi:type="dcterms:W3CDTF">2025-12-29T09:43:37Z</dcterms:modified>
</cp:coreProperties>
</file>
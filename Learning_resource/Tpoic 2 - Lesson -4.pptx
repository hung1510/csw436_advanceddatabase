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63" r:id="rId4"/>
    <p:sldId id="264" r:id="rId5"/>
    <p:sldId id="282" r:id="rId6"/>
    <p:sldId id="265" r:id="rId7"/>
    <p:sldId id="283" r:id="rId8"/>
    <p:sldId id="266" r:id="rId9"/>
    <p:sldId id="267" r:id="rId10"/>
    <p:sldId id="284" r:id="rId11"/>
    <p:sldId id="268" r:id="rId12"/>
    <p:sldId id="29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7D4A0-AB3B-4297-96DC-A945D1E47E93}" type="datetimeFigureOut">
              <a:rPr lang="en-IN" smtClean="0"/>
              <a:t>06/01/26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1FCF7-259F-45CA-8CE9-4E74229F3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86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qlzoo.net/wiki/SQL_Tutorial" TargetMode="External"/><Relationship Id="rId2" Type="http://schemas.openxmlformats.org/officeDocument/2006/relationships/hyperlink" Target="https://sqlfiddle.com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149" y="544285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and Optimization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F45D1F-3D82-9B9E-08AE-C5F1368DB82B}"/>
              </a:ext>
            </a:extLst>
          </p:cNvPr>
          <p:cNvSpPr txBox="1">
            <a:spLocks/>
          </p:cNvSpPr>
          <p:nvPr/>
        </p:nvSpPr>
        <p:spPr>
          <a:xfrm>
            <a:off x="2034540" y="2538946"/>
            <a:ext cx="7772400" cy="71860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100" dirty="0">
                <a:solidFill>
                  <a:schemeClr val="bg2">
                    <a:lumMod val="25000"/>
                  </a:schemeClr>
                </a:solidFill>
              </a:rPr>
              <a:t>Week - 2 ,Topic – 2, Lesson - 4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B52F3B1-1E6E-7DD8-114D-DBEFE6EFAF42}"/>
              </a:ext>
            </a:extLst>
          </p:cNvPr>
          <p:cNvSpPr txBox="1">
            <a:spLocks/>
          </p:cNvSpPr>
          <p:nvPr/>
        </p:nvSpPr>
        <p:spPr>
          <a:xfrm>
            <a:off x="2930324" y="3338899"/>
            <a:ext cx="6331352" cy="523103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Query Processing – JOIN algorithms, pipelining</a:t>
            </a:r>
            <a:r>
              <a:rPr lang="en-IN" dirty="0">
                <a:effectLst/>
              </a:rPr>
              <a:t>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83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064224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25784"/>
            <a:ext cx="10744200" cy="115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steps and core algorithms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algorithms and pipelining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1">
            <a:extLst>
              <a:ext uri="{FF2B5EF4-FFF2-40B4-BE49-F238E27FC236}">
                <a16:creationId xmlns:a16="http://schemas.microsoft.com/office/drawing/2014/main" id="{F696CEB7-EF99-83B2-E2F8-2865FC9FF5D8}"/>
              </a:ext>
            </a:extLst>
          </p:cNvPr>
          <p:cNvSpPr/>
          <p:nvPr/>
        </p:nvSpPr>
        <p:spPr>
          <a:xfrm>
            <a:off x="9079078" y="2816352"/>
            <a:ext cx="207248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2. Join algorithms </a:t>
            </a: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(⋈)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62890" y="2172063"/>
            <a:ext cx="6469380" cy="3908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combines rows from two tables using a condition.</a:t>
            </a:r>
            <a:endParaRPr lang="en-US" sz="2200" dirty="0"/>
          </a:p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</a:p>
          <a:p>
            <a:pPr algn="just">
              <a:buSzPct val="100000"/>
            </a:pPr>
            <a:endParaRPr lang="en-US" sz="2200" dirty="0">
              <a:solidFill>
                <a:srgbClr val="11111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buSzPct val="100000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(match keys and merge columns).</a:t>
            </a:r>
            <a:endParaRPr lang="en-US" sz="2200" dirty="0"/>
          </a:p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are expensive because they can compare many pairs of rows.</a:t>
            </a:r>
            <a:endParaRPr lang="en-US" sz="2200" dirty="0"/>
          </a:p>
          <a:p>
            <a:pPr marL="355600" indent="-355600" algn="just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to reduce disk I/O and avoid unnecessary comparisons.</a:t>
            </a:r>
            <a:endParaRPr lang="en-US" sz="22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BBBE42B-7227-C132-50CC-0C91FDB938E9}"/>
              </a:ext>
            </a:extLst>
          </p:cNvPr>
          <p:cNvSpPr/>
          <p:nvPr/>
        </p:nvSpPr>
        <p:spPr>
          <a:xfrm>
            <a:off x="7006590" y="2816352"/>
            <a:ext cx="207248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FD9C0259-934A-7667-1F8D-8B25A75F6333}"/>
              </a:ext>
            </a:extLst>
          </p:cNvPr>
          <p:cNvSpPr/>
          <p:nvPr/>
        </p:nvSpPr>
        <p:spPr>
          <a:xfrm>
            <a:off x="7006590" y="2862072"/>
            <a:ext cx="20724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6F3F3FC9-CE64-909B-9869-F520FC833EA1}"/>
              </a:ext>
            </a:extLst>
          </p:cNvPr>
          <p:cNvSpPr/>
          <p:nvPr/>
        </p:nvSpPr>
        <p:spPr>
          <a:xfrm>
            <a:off x="9170518" y="2862072"/>
            <a:ext cx="20724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2AD978A-250C-161C-5BBC-0131BF999443}"/>
              </a:ext>
            </a:extLst>
          </p:cNvPr>
          <p:cNvSpPr/>
          <p:nvPr/>
        </p:nvSpPr>
        <p:spPr>
          <a:xfrm>
            <a:off x="7189470" y="3319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12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78A52E13-F452-22C8-CD2C-C026D4D6D190}"/>
              </a:ext>
            </a:extLst>
          </p:cNvPr>
          <p:cNvSpPr/>
          <p:nvPr/>
        </p:nvSpPr>
        <p:spPr>
          <a:xfrm>
            <a:off x="9353398" y="3502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12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C93258FD-20A8-476F-0415-FF80FE91C3D6}"/>
              </a:ext>
            </a:extLst>
          </p:cNvPr>
          <p:cNvSpPr/>
          <p:nvPr/>
        </p:nvSpPr>
        <p:spPr>
          <a:xfrm>
            <a:off x="8012430" y="34381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3C026CD6-2E1D-2DF8-813F-3BA3C4B2D54F}"/>
              </a:ext>
            </a:extLst>
          </p:cNvPr>
          <p:cNvSpPr/>
          <p:nvPr/>
        </p:nvSpPr>
        <p:spPr>
          <a:xfrm>
            <a:off x="7189470" y="3776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2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534026BB-E0D0-4A66-49FB-73E1BE400336}"/>
              </a:ext>
            </a:extLst>
          </p:cNvPr>
          <p:cNvSpPr/>
          <p:nvPr/>
        </p:nvSpPr>
        <p:spPr>
          <a:xfrm>
            <a:off x="9353398" y="3959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20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65E59345-BB73-DE75-00F7-52658915BF53}"/>
              </a:ext>
            </a:extLst>
          </p:cNvPr>
          <p:cNvSpPr/>
          <p:nvPr/>
        </p:nvSpPr>
        <p:spPr>
          <a:xfrm>
            <a:off x="8012430" y="38953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A5B9E14D-438F-8309-2C42-F8DD69D55B95}"/>
              </a:ext>
            </a:extLst>
          </p:cNvPr>
          <p:cNvSpPr/>
          <p:nvPr/>
        </p:nvSpPr>
        <p:spPr>
          <a:xfrm>
            <a:off x="7189470" y="42336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2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755D8082-952E-CDFE-36DA-3831E672266F}"/>
              </a:ext>
            </a:extLst>
          </p:cNvPr>
          <p:cNvSpPr/>
          <p:nvPr/>
        </p:nvSpPr>
        <p:spPr>
          <a:xfrm>
            <a:off x="9353398" y="44165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200" dirty="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A5C1CFE9-17E2-F2D9-15AD-709B513F7E8F}"/>
              </a:ext>
            </a:extLst>
          </p:cNvPr>
          <p:cNvSpPr/>
          <p:nvPr/>
        </p:nvSpPr>
        <p:spPr>
          <a:xfrm>
            <a:off x="8012430" y="43525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D0DE9FB2-BE79-AD12-D013-8796A6BA6FEB}"/>
              </a:ext>
            </a:extLst>
          </p:cNvPr>
          <p:cNvSpPr/>
          <p:nvPr/>
        </p:nvSpPr>
        <p:spPr>
          <a:xfrm>
            <a:off x="7189470" y="46908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200" dirty="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1DB2E79B-60B2-21B6-CEE2-9E51E6E96CD6}"/>
              </a:ext>
            </a:extLst>
          </p:cNvPr>
          <p:cNvSpPr/>
          <p:nvPr/>
        </p:nvSpPr>
        <p:spPr>
          <a:xfrm>
            <a:off x="9353398" y="48737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200" dirty="0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E501F974-9E68-09E0-9B52-E20F10A9D4AA}"/>
              </a:ext>
            </a:extLst>
          </p:cNvPr>
          <p:cNvSpPr/>
          <p:nvPr/>
        </p:nvSpPr>
        <p:spPr>
          <a:xfrm>
            <a:off x="8012430" y="48097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DD404B29-2E83-C90E-9134-3850620A61AD}"/>
              </a:ext>
            </a:extLst>
          </p:cNvPr>
          <p:cNvSpPr/>
          <p:nvPr/>
        </p:nvSpPr>
        <p:spPr>
          <a:xfrm>
            <a:off x="7189470" y="5148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200" dirty="0"/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619612CB-3F9F-42DC-D9ED-E6C4CC2F7AD2}"/>
              </a:ext>
            </a:extLst>
          </p:cNvPr>
          <p:cNvSpPr/>
          <p:nvPr/>
        </p:nvSpPr>
        <p:spPr>
          <a:xfrm>
            <a:off x="9353398" y="5330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200" dirty="0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94E12956-89EB-0C4B-8AA7-86E68A78B733}"/>
              </a:ext>
            </a:extLst>
          </p:cNvPr>
          <p:cNvSpPr/>
          <p:nvPr/>
        </p:nvSpPr>
        <p:spPr>
          <a:xfrm>
            <a:off x="8012430" y="5266944"/>
            <a:ext cx="1249528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04E717-F74D-B53A-BE87-229C6E5E204D}"/>
              </a:ext>
            </a:extLst>
          </p:cNvPr>
          <p:cNvSpPr txBox="1"/>
          <p:nvPr/>
        </p:nvSpPr>
        <p:spPr>
          <a:xfrm>
            <a:off x="6783577" y="6044184"/>
            <a:ext cx="4591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algorithms decide how to find these matches efficiently.</a:t>
            </a:r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6895224E-A94B-77D5-70D9-0D927E319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4530" y="2953512"/>
            <a:ext cx="3966210" cy="548640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E41CC913-BEA1-829E-7745-C5F708819905}"/>
              </a:ext>
            </a:extLst>
          </p:cNvPr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Join algorithm and pipelining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Nested-Loop Join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can be slow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2188754"/>
            <a:ext cx="4640580" cy="25658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for each tuple r in R, scan all tuples s in S and test the join condition.</a:t>
            </a:r>
            <a:endParaRPr lang="en-US" sz="24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one table is very small.</a:t>
            </a:r>
            <a:endParaRPr lang="en-US" sz="24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nested-loop: read a block of R into memory, then scan S once per block.</a:t>
            </a:r>
            <a:endParaRPr lang="en-US" sz="24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repeated I/O compared to tuple-at-a-time loops.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DB649-0664-E7BF-68A4-6636FB0810B7}"/>
              </a:ext>
            </a:extLst>
          </p:cNvPr>
          <p:cNvSpPr txBox="1"/>
          <p:nvPr/>
        </p:nvSpPr>
        <p:spPr>
          <a:xfrm>
            <a:off x="5332098" y="2455301"/>
            <a:ext cx="63322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Algorithm - 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for each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 tuple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sz="2000" i="1" baseline="-25000" dirty="0">
                <a:ea typeface="ＭＳ Ｐゴシック" panose="020B0600070205080204" pitchFamily="34" charset="-128"/>
                <a:sym typeface="Symbol" pitchFamily="2" charset="2"/>
              </a:rPr>
              <a:t>r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in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r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do begin</a:t>
            </a:r>
            <a:b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</a:b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	for each tuple 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in </a:t>
            </a:r>
            <a:r>
              <a:rPr lang="en-US" altLang="en-US" sz="2000" i="1" dirty="0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 do begin</a:t>
            </a:r>
            <a:b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</a:br>
            <a:r>
              <a:rPr lang="en-US" altLang="en-US" sz="2000" b="1" dirty="0">
                <a:ea typeface="ＭＳ Ｐゴシック" panose="020B0600070205080204" pitchFamily="34" charset="-128"/>
                <a:sym typeface="Symbol" pitchFamily="2" charset="2"/>
              </a:rPr>
              <a:t>		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test pair (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Symbol" pitchFamily="2" charset="2"/>
              </a:rPr>
              <a:t>r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Symbol" pitchFamily="2" charset="2"/>
              </a:rPr>
              <a:t>,t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sz="2000" dirty="0">
                <a:ea typeface="ＭＳ Ｐゴシック" panose="020B0600070205080204" pitchFamily="34" charset="-128"/>
                <a:sym typeface="Symbol" pitchFamily="2" charset="2"/>
              </a:rPr>
              <a:t>) to see if they satisfy the join condition </a:t>
            </a:r>
            <a:r>
              <a:rPr lang="en-US" altLang="en-US" sz="2000" i="1" dirty="0">
                <a:ea typeface="ＭＳ Ｐゴシック" panose="020B0600070205080204" pitchFamily="34" charset="-128"/>
                <a:sym typeface="Greek Symbols" pitchFamily="18" charset="2"/>
              </a:rPr>
              <a:t> </a:t>
            </a:r>
            <a:b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  <a:t>		if they do, add </a:t>
            </a:r>
            <a:r>
              <a:rPr lang="en-US" altLang="en-US" sz="2000" i="1" dirty="0">
                <a:ea typeface="ＭＳ Ｐゴシック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sz="2000" i="1" baseline="-25000" dirty="0">
                <a:ea typeface="ＭＳ Ｐゴシック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sz="2000" i="1" dirty="0">
                <a:ea typeface="ＭＳ Ｐゴシック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sz="2000" i="1" dirty="0" err="1">
                <a:ea typeface="ＭＳ Ｐゴシック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sz="2000" i="1" baseline="-25000" dirty="0" err="1">
                <a:ea typeface="ＭＳ Ｐゴシック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en-US" sz="2000" dirty="0">
                <a:ea typeface="ＭＳ Ｐゴシック" panose="020B0600070205080204" pitchFamily="34" charset="-128"/>
                <a:sym typeface="Greek Symbols" pitchFamily="18" charset="2"/>
              </a:rPr>
              <a:t>	</a:t>
            </a:r>
            <a:r>
              <a:rPr lang="en-US" altLang="en-US" sz="2000" b="1" dirty="0">
                <a:ea typeface="ＭＳ Ｐゴシック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sz="2000" b="1" dirty="0">
                <a:ea typeface="ＭＳ Ｐゴシック" panose="020B0600070205080204" pitchFamily="34" charset="-128"/>
                <a:sym typeface="Greek Symbols" pitchFamily="18" charset="2"/>
              </a:rPr>
            </a:br>
            <a:r>
              <a:rPr lang="en-US" altLang="en-US" sz="2000" b="1" dirty="0">
                <a:ea typeface="ＭＳ Ｐゴシック" panose="020B0600070205080204" pitchFamily="34" charset="-128"/>
                <a:sym typeface="Greek Symbols" pitchFamily="18" charset="2"/>
              </a:rPr>
              <a:t>end</a:t>
            </a:r>
            <a:endParaRPr lang="en-US" altLang="en-US" sz="2000" dirty="0">
              <a:ea typeface="ＭＳ Ｐゴシック" panose="020B0600070205080204" pitchFamily="34" charset="-128"/>
              <a:sym typeface="Greek Symbols" pitchFamily="18" charset="2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6D7098F-F7F6-ECB3-DCDD-521298F83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7092" y="5448758"/>
            <a:ext cx="4331908" cy="4216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1BD3E7-3A41-5149-48BF-677754963C56}"/>
              </a:ext>
            </a:extLst>
          </p:cNvPr>
          <p:cNvSpPr txBox="1"/>
          <p:nvPr/>
        </p:nvSpPr>
        <p:spPr>
          <a:xfrm>
            <a:off x="5332098" y="5370470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cost (rough)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8C1C10-AE68-CA95-9906-F7574CED78F8}"/>
              </a:ext>
            </a:extLst>
          </p:cNvPr>
          <p:cNvSpPr txBox="1"/>
          <p:nvPr/>
        </p:nvSpPr>
        <p:spPr>
          <a:xfrm>
            <a:off x="273255" y="2276344"/>
            <a:ext cx="55827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Student.Name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Enrollment.Course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Student, Enrollment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Student.Roll_No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Enrollment.Roll_No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E0227-F317-B2BA-964E-0574549E2FD1}"/>
              </a:ext>
            </a:extLst>
          </p:cNvPr>
          <p:cNvSpPr txBox="1"/>
          <p:nvPr/>
        </p:nvSpPr>
        <p:spPr>
          <a:xfrm>
            <a:off x="4081883" y="4911838"/>
            <a:ext cx="40282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= (2, Kim)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with (1, DBMS) → no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with (1, OS) → no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with (2, DBMS) → match ✔</a:t>
            </a:r>
          </a:p>
          <a:p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Student = (3, Tam)</a:t>
            </a:r>
          </a:p>
          <a:p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Compared with all → no match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BA591-F4FE-6A00-21E5-89BDD173E34D}"/>
              </a:ext>
            </a:extLst>
          </p:cNvPr>
          <p:cNvSpPr txBox="1"/>
          <p:nvPr/>
        </p:nvSpPr>
        <p:spPr>
          <a:xfrm>
            <a:off x="273255" y="3571649"/>
            <a:ext cx="42519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Student = (1, Nhi)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with (1, DBMS) → match ✔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with (1, OS) → match ✔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Compare with (2, DBMS) → no match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94F732-7FB3-D5FE-DAD2-B93381987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457950"/>
              </p:ext>
            </p:extLst>
          </p:nvPr>
        </p:nvGraphicFramePr>
        <p:xfrm>
          <a:off x="8722996" y="3995958"/>
          <a:ext cx="2221228" cy="158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0614">
                  <a:extLst>
                    <a:ext uri="{9D8B030D-6E8A-4147-A177-3AD203B41FA5}">
                      <a16:colId xmlns:a16="http://schemas.microsoft.com/office/drawing/2014/main" val="4003186831"/>
                    </a:ext>
                  </a:extLst>
                </a:gridCol>
                <a:gridCol w="1110614">
                  <a:extLst>
                    <a:ext uri="{9D8B030D-6E8A-4147-A177-3AD203B41FA5}">
                      <a16:colId xmlns:a16="http://schemas.microsoft.com/office/drawing/2014/main" val="1462513301"/>
                    </a:ext>
                  </a:extLst>
                </a:gridCol>
              </a:tblGrid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Course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187605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Nhi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DBMS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782370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Kim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175310"/>
                  </a:ext>
                </a:extLst>
              </a:tr>
              <a:tr h="269305">
                <a:tc>
                  <a:txBody>
                    <a:bodyPr/>
                    <a:lstStyle/>
                    <a:p>
                      <a:r>
                        <a:rPr lang="en-IN" sz="2000" dirty="0"/>
                        <a:t>Tam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DBMS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1966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9CE9BA9-120F-F020-E687-8E96185D0D37}"/>
              </a:ext>
            </a:extLst>
          </p:cNvPr>
          <p:cNvSpPr txBox="1"/>
          <p:nvPr/>
        </p:nvSpPr>
        <p:spPr>
          <a:xfrm>
            <a:off x="8579283" y="3386983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73612-0B19-F1CB-31CE-E0692CC12655}"/>
              </a:ext>
            </a:extLst>
          </p:cNvPr>
          <p:cNvSpPr txBox="1"/>
          <p:nvPr/>
        </p:nvSpPr>
        <p:spPr>
          <a:xfrm>
            <a:off x="720090" y="564180"/>
            <a:ext cx="6806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Nested-Loop Join - </a:t>
            </a:r>
            <a:r>
              <a:rPr lang="en-US" sz="4400" dirty="0">
                <a:solidFill>
                  <a:schemeClr val="bg1"/>
                </a:solidFill>
                <a:latin typeface="+mj-lt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357087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Nested-Loop Join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index to find matches quickly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0050" y="2263503"/>
            <a:ext cx="6297930" cy="39086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 has an index on the join key, for each r in R we can look up matching rows in S.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R is small OR the index lookup is very selective.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OLTP systems with many indexes.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many random I/Os if lookups are not selective.</a:t>
            </a:r>
            <a:endParaRPr lang="en-US" sz="22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5B4B39A-F82C-D6D1-5764-490A86079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" y="4796028"/>
            <a:ext cx="5695950" cy="4960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C3DB6A-2D21-8196-9A75-A484B6B7252D}"/>
              </a:ext>
            </a:extLst>
          </p:cNvPr>
          <p:cNvSpPr txBox="1"/>
          <p:nvPr/>
        </p:nvSpPr>
        <p:spPr>
          <a:xfrm>
            <a:off x="6809423" y="2624435"/>
            <a:ext cx="51692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algorithm works ?</a:t>
            </a:r>
          </a:p>
          <a:p>
            <a:r>
              <a:rPr lang="en-US" dirty="0"/>
              <a:t>FOR each row in STUDENT: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   Use index on MARKS to find matching </a:t>
            </a:r>
            <a:r>
              <a:rPr lang="en-US" dirty="0" err="1"/>
              <a:t>Roll_No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   JOIN the rows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A0932-A4A1-F349-740A-52AE3F776C00}"/>
              </a:ext>
            </a:extLst>
          </p:cNvPr>
          <p:cNvSpPr txBox="1"/>
          <p:nvPr/>
        </p:nvSpPr>
        <p:spPr>
          <a:xfrm>
            <a:off x="6809423" y="4050612"/>
            <a:ext cx="45034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- </a:t>
            </a:r>
          </a:p>
          <a:p>
            <a:r>
              <a:rPr lang="en-US" dirty="0"/>
              <a:t>SELECT </a:t>
            </a:r>
            <a:r>
              <a:rPr lang="en-US" dirty="0" err="1"/>
              <a:t>Student.Name</a:t>
            </a:r>
            <a:r>
              <a:rPr lang="en-US" dirty="0"/>
              <a:t>, </a:t>
            </a:r>
            <a:r>
              <a:rPr lang="en-US" dirty="0" err="1"/>
              <a:t>Marks.Marks</a:t>
            </a:r>
            <a:endParaRPr lang="en-US" dirty="0"/>
          </a:p>
          <a:p>
            <a:r>
              <a:rPr lang="en-US" dirty="0"/>
              <a:t>FROM Student</a:t>
            </a:r>
          </a:p>
          <a:p>
            <a:r>
              <a:rPr lang="en-US" dirty="0"/>
              <a:t>JOIN Marks</a:t>
            </a:r>
          </a:p>
          <a:p>
            <a:r>
              <a:rPr lang="en-US" dirty="0"/>
              <a:t>ON </a:t>
            </a:r>
            <a:r>
              <a:rPr lang="en-US" dirty="0" err="1"/>
              <a:t>Student.Roll_No</a:t>
            </a:r>
            <a:r>
              <a:rPr lang="en-US" dirty="0"/>
              <a:t> = </a:t>
            </a:r>
            <a:r>
              <a:rPr lang="en-US" dirty="0" err="1"/>
              <a:t>Marks.Roll_No</a:t>
            </a:r>
            <a:r>
              <a:rPr lang="en-US" dirty="0"/>
              <a:t>;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819C10-C604-2406-B547-E838A9251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89534"/>
              </p:ext>
            </p:extLst>
          </p:nvPr>
        </p:nvGraphicFramePr>
        <p:xfrm>
          <a:off x="1430657" y="5623560"/>
          <a:ext cx="2415540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07770">
                  <a:extLst>
                    <a:ext uri="{9D8B030D-6E8A-4147-A177-3AD203B41FA5}">
                      <a16:colId xmlns:a16="http://schemas.microsoft.com/office/drawing/2014/main" val="2126274033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37868896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6507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6171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09469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B7D43CA-D1F0-5C5A-DD30-7C1196DBE981}"/>
              </a:ext>
            </a:extLst>
          </p:cNvPr>
          <p:cNvSpPr txBox="1"/>
          <p:nvPr/>
        </p:nvSpPr>
        <p:spPr>
          <a:xfrm>
            <a:off x="400050" y="543889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7C8F8-3D3E-2BEF-E7B8-51E61F073571}"/>
              </a:ext>
            </a:extLst>
          </p:cNvPr>
          <p:cNvSpPr txBox="1"/>
          <p:nvPr/>
        </p:nvSpPr>
        <p:spPr>
          <a:xfrm>
            <a:off x="662940" y="594360"/>
            <a:ext cx="24721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+mj-lt"/>
              </a:rPr>
              <a:t>Hash Join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0B251-A74F-CC66-ACF0-8C60AF78837E}"/>
              </a:ext>
            </a:extLst>
          </p:cNvPr>
          <p:cNvSpPr txBox="1"/>
          <p:nvPr/>
        </p:nvSpPr>
        <p:spPr>
          <a:xfrm>
            <a:off x="351472" y="2324576"/>
            <a:ext cx="60721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Applicable for 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equi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-joins and natural joins.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A hash function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h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is used to partition tuples of both relations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maps </a:t>
            </a:r>
            <a:r>
              <a:rPr lang="en-US" alt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JoinAttrs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values to {0, 1, ..., 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}, where </a:t>
            </a:r>
            <a:r>
              <a:rPr lang="en-US" altLang="en-US" i="1" dirty="0" err="1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JoinAttrs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denotes the common attributes of 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 and 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s 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ea typeface="ＭＳ Ｐゴシック" panose="020B0600070205080204" pitchFamily="34" charset="-128"/>
              </a:rPr>
              <a:t>used in the natural join.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en-US" i="1" dirty="0">
                <a:ea typeface="ＭＳ Ｐゴシック" panose="020B0600070205080204" pitchFamily="34" charset="-128"/>
              </a:rPr>
              <a:t>, r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i="1" dirty="0">
                <a:ea typeface="ＭＳ Ｐゴシック" panose="020B0600070205080204" pitchFamily="34" charset="-128"/>
              </a:rPr>
              <a:t>, . . .,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denote partitions of </a:t>
            </a:r>
            <a:r>
              <a:rPr lang="en-US" altLang="en-US" i="1" dirty="0">
                <a:ea typeface="ＭＳ Ｐゴシック" panose="020B0600070205080204" pitchFamily="34" charset="-128"/>
              </a:rPr>
              <a:t>r </a:t>
            </a:r>
            <a:r>
              <a:rPr lang="en-US" altLang="en-US" dirty="0">
                <a:ea typeface="ＭＳ Ｐゴシック" panose="020B0600070205080204" pitchFamily="34" charset="-128"/>
              </a:rPr>
              <a:t>tuples, each tuple </a:t>
            </a:r>
            <a:r>
              <a:rPr lang="en-US" altLang="en-US" i="1" dirty="0">
                <a:ea typeface="ＭＳ Ｐゴシック" panose="020B0600070205080204" pitchFamily="34" charset="-128"/>
              </a:rPr>
              <a:t>t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r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 r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is put in partition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r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i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 where 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 = h(t</a:t>
            </a:r>
            <a:r>
              <a:rPr lang="en-US" altLang="en-US" i="1" baseline="-25000" dirty="0">
                <a:ea typeface="ＭＳ Ｐゴシック" panose="020B0600070205080204" pitchFamily="34" charset="-128"/>
                <a:sym typeface="Symbol" pitchFamily="2" charset="2"/>
              </a:rPr>
              <a:t>r 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[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JoinAttrs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]).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</a:rPr>
              <a:t>,, s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en-US" i="1" dirty="0">
                <a:ea typeface="ＭＳ Ｐゴシック" panose="020B0600070205080204" pitchFamily="34" charset="-128"/>
              </a:rPr>
              <a:t>. . .,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s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denotes partitions of </a:t>
            </a:r>
            <a:r>
              <a:rPr lang="en-US" altLang="en-US" i="1" dirty="0">
                <a:ea typeface="ＭＳ Ｐゴシック" panose="020B0600070205080204" pitchFamily="34" charset="-128"/>
              </a:rPr>
              <a:t>s</a:t>
            </a:r>
            <a:r>
              <a:rPr lang="en-US" altLang="en-US" dirty="0">
                <a:ea typeface="ＭＳ Ｐゴシック" panose="020B0600070205080204" pitchFamily="34" charset="-128"/>
              </a:rPr>
              <a:t> tuples, each tuple </a:t>
            </a:r>
            <a:r>
              <a:rPr lang="en-US" altLang="en-US" i="1" dirty="0" err="1">
                <a:ea typeface="ＭＳ Ｐゴシック" panose="020B0600070205080204" pitchFamily="34" charset="-128"/>
              </a:rPr>
              <a:t>t</a:t>
            </a:r>
            <a:r>
              <a:rPr lang="en-US" altLang="en-US" i="1" baseline="-25000" dirty="0" err="1">
                <a:ea typeface="ＭＳ Ｐゴシック" panose="020B0600070205080204" pitchFamily="34" charset="-128"/>
              </a:rPr>
              <a:t>s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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 is put in partition 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i="1" baseline="-25000" dirty="0" err="1"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dirty="0">
                <a:ea typeface="ＭＳ Ｐゴシック" panose="020B0600070205080204" pitchFamily="34" charset="-128"/>
                <a:sym typeface="Symbol" pitchFamily="2" charset="2"/>
              </a:rPr>
              <a:t>, where 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i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 = h(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t</a:t>
            </a:r>
            <a:r>
              <a:rPr lang="en-US" altLang="en-US" i="1" baseline="-25000" dirty="0" err="1">
                <a:ea typeface="ＭＳ Ｐゴシック" panose="020B0600070205080204" pitchFamily="34" charset="-128"/>
                <a:sym typeface="Symbol" pitchFamily="2" charset="2"/>
              </a:rPr>
              <a:t>s</a:t>
            </a:r>
            <a:r>
              <a:rPr lang="en-US" altLang="en-US" i="1" baseline="-25000" dirty="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[</a:t>
            </a:r>
            <a:r>
              <a:rPr lang="en-US" altLang="en-US" i="1" dirty="0" err="1">
                <a:ea typeface="ＭＳ Ｐゴシック" panose="020B0600070205080204" pitchFamily="34" charset="-128"/>
                <a:sym typeface="Symbol" pitchFamily="2" charset="2"/>
              </a:rPr>
              <a:t>JoinAttrs</a:t>
            </a:r>
            <a:r>
              <a:rPr lang="en-US" altLang="en-US" i="1" dirty="0">
                <a:ea typeface="ＭＳ Ｐゴシック" panose="020B0600070205080204" pitchFamily="34" charset="-128"/>
                <a:sym typeface="Symbol" pitchFamily="2" charset="2"/>
              </a:rPr>
              <a:t>]).</a:t>
            </a: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ea typeface="ＭＳ Ｐゴシック" panose="020B0600070205080204" pitchFamily="34" charset="-128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memory to hold build side (or use partitioning)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-120"/>
              </a:rPr>
              <a:t>Cost in memory -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43BF8F4-9184-AC50-3D29-996CCCA34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340" y="2058128"/>
            <a:ext cx="3939540" cy="3960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43D915-73F2-EEBE-2AF5-6944D6F6CCDA}"/>
              </a:ext>
            </a:extLst>
          </p:cNvPr>
          <p:cNvSpPr txBox="1"/>
          <p:nvPr/>
        </p:nvSpPr>
        <p:spPr>
          <a:xfrm>
            <a:off x="8181812" y="6149340"/>
            <a:ext cx="3018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Hash partitioning of relations</a:t>
            </a: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83521DD-4ADE-DEEF-1A03-79FF44EC1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2288" y="5964674"/>
            <a:ext cx="3477875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26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 vs Hash Join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widely used join algorithms</a:t>
            </a:r>
            <a:endParaRPr lang="en-US" sz="16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C70330-49AA-5D09-060A-DA49AE07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027040"/>
              </p:ext>
            </p:extLst>
          </p:nvPr>
        </p:nvGraphicFramePr>
        <p:xfrm>
          <a:off x="1141254" y="2720340"/>
          <a:ext cx="9879012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3004">
                  <a:extLst>
                    <a:ext uri="{9D8B030D-6E8A-4147-A177-3AD203B41FA5}">
                      <a16:colId xmlns:a16="http://schemas.microsoft.com/office/drawing/2014/main" val="2488056898"/>
                    </a:ext>
                  </a:extLst>
                </a:gridCol>
                <a:gridCol w="3293004">
                  <a:extLst>
                    <a:ext uri="{9D8B030D-6E8A-4147-A177-3AD203B41FA5}">
                      <a16:colId xmlns:a16="http://schemas.microsoft.com/office/drawing/2014/main" val="324173732"/>
                    </a:ext>
                  </a:extLst>
                </a:gridCol>
                <a:gridCol w="3293004">
                  <a:extLst>
                    <a:ext uri="{9D8B030D-6E8A-4147-A177-3AD203B41FA5}">
                      <a16:colId xmlns:a16="http://schemas.microsoft.com/office/drawing/2014/main" val="1286552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Nested Loop Join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Hash Join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1524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Working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Compares rows one by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Uses hash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53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Slow for large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Very 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73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Index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86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Small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Large tables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03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778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Join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Any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Equality only (=)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1653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 (Streaming)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0045" y="2895092"/>
            <a:ext cx="10801350" cy="3562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 model</a:t>
            </a: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each operator produces the next tuple on demand (next()).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Pipelining</a:t>
            </a: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pass tuples directly from one operator to the next (no full intermediate table).</a:t>
            </a:r>
          </a:p>
          <a:p>
            <a:pPr marL="812800" lvl="1" indent="-355600">
              <a:buSzPct val="100000"/>
              <a:buFont typeface="Wingdings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Pipelines can be executed in two ways:  demand driven and producer driven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Materialization</a:t>
            </a: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write intermediate results to disk/temp table (slower, but sometimes required).</a:t>
            </a:r>
            <a:endParaRPr lang="en-US" sz="20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breaks: sort, hash build phase, or blocking aggregates often need full input.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85750" y="5250947"/>
            <a:ext cx="5474970" cy="1115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pipeline: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→ Filter (σ) → Project (π) → Output</a:t>
            </a:r>
          </a:p>
          <a:p>
            <a:pPr marL="0" indent="0">
              <a:buNone/>
            </a:pPr>
            <a:endParaRPr lang="en-US" sz="1600" dirty="0">
              <a:solidFill>
                <a:srgbClr val="111111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600" dirty="0"/>
              <a:t>SELECT Name FROM Student WHERE Marks &gt; 80;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6D532D8-8267-0C10-4527-571119F6562D}"/>
              </a:ext>
            </a:extLst>
          </p:cNvPr>
          <p:cNvSpPr txBox="1">
            <a:spLocks noChangeArrowheads="1"/>
          </p:cNvSpPr>
          <p:nvPr/>
        </p:nvSpPr>
        <p:spPr>
          <a:xfrm>
            <a:off x="811532" y="2496086"/>
            <a:ext cx="10847068" cy="4179030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1943" lvl="1" indent="0">
              <a:lnSpc>
                <a:spcPct val="90000"/>
              </a:lnSpc>
              <a:buNone/>
            </a:pPr>
            <a:r>
              <a:rPr lang="en-US" altLang="en-US" sz="2000" dirty="0">
                <a:ea typeface="ＭＳ Ｐゴシック" panose="020B0600070205080204" pitchFamily="34" charset="-128"/>
              </a:rPr>
              <a:t>Each operation is implemented as an </a:t>
            </a:r>
            <a:r>
              <a:rPr lang="en-US" altLang="en-US" sz="2000" b="1" dirty="0">
                <a:solidFill>
                  <a:srgbClr val="3366CC"/>
                </a:solidFill>
                <a:ea typeface="ＭＳ Ｐゴシック" panose="020B0600070205080204" pitchFamily="34" charset="-128"/>
              </a:rPr>
              <a:t>iterator </a:t>
            </a:r>
            <a:r>
              <a:rPr lang="en-US" altLang="en-US" sz="2000" dirty="0">
                <a:ea typeface="ＭＳ Ｐゴシック" panose="020B0600070205080204" pitchFamily="34" charset="-128"/>
              </a:rPr>
              <a:t>implementing the following operations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ea typeface="ＭＳ Ｐゴシック" panose="020B0600070205080204" pitchFamily="34" charset="-128"/>
              </a:rPr>
              <a:t>open()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file scan: initialize file scan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state: pointer to beginning of file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merge join: sort relations;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state: pointers to beginning of sorted relations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ea typeface="ＭＳ Ｐゴシック" panose="020B0600070205080204" pitchFamily="34" charset="-128"/>
              </a:rPr>
              <a:t>next()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for file scan: Output next tuple, and advance and store file pointer</a:t>
            </a:r>
          </a:p>
          <a:p>
            <a:pPr lvl="2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for merge join:  continue with merge from earlier state till 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next output tuple is found.  Save pointers as iterator state.</a:t>
            </a:r>
          </a:p>
          <a:p>
            <a:pPr marL="627063" lvl="2" indent="0">
              <a:lnSpc>
                <a:spcPct val="90000"/>
              </a:lnSpc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close()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CAD5C-505B-B7F4-DEE2-AD1C41CD69EC}"/>
              </a:ext>
            </a:extLst>
          </p:cNvPr>
          <p:cNvSpPr txBox="1"/>
          <p:nvPr/>
        </p:nvSpPr>
        <p:spPr>
          <a:xfrm>
            <a:off x="571090" y="651510"/>
            <a:ext cx="11049820" cy="70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4400" b="1" dirty="0"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</a:rPr>
              <a:t>Implementation of demand-driven pipelining</a:t>
            </a:r>
          </a:p>
        </p:txBody>
      </p:sp>
    </p:spTree>
    <p:extLst>
      <p:ext uri="{BB962C8B-B14F-4D97-AF65-F5344CB8AC3E}">
        <p14:creationId xmlns:p14="http://schemas.microsoft.com/office/powerpoint/2010/main" val="3976989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What is Query Optimization?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642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Query optimization techniques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44800"/>
            <a:ext cx="10744200" cy="364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chooses a good plan among many equivalent plans.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optimization: rewrite query without changing meaning (</a:t>
            </a:r>
            <a:r>
              <a:rPr 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rules</a:t>
            </a: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optimization: pick access paths + join algorithms + join order.</a:t>
            </a:r>
            <a:endParaRPr lang="en-US" sz="2200" dirty="0"/>
          </a:p>
          <a:p>
            <a:pPr marL="355600" indent="-355600">
              <a:buSzPct val="100000"/>
              <a:buFont typeface="Wingdings" pitchFamily="2" charset="2"/>
              <a:buChar char="q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styles: rule-based (heuristics) and cost-based (use a cost model).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CF02B93-579D-E74C-D3EC-076D8ADCA346}"/>
              </a:ext>
            </a:extLst>
          </p:cNvPr>
          <p:cNvSpPr txBox="1">
            <a:spLocks/>
          </p:cNvSpPr>
          <p:nvPr/>
        </p:nvSpPr>
        <p:spPr>
          <a:xfrm>
            <a:off x="1783080" y="601218"/>
            <a:ext cx="8229600" cy="90754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Further Reading and Practice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D297505-3CE5-7A30-2CD9-285E31F78931}"/>
              </a:ext>
            </a:extLst>
          </p:cNvPr>
          <p:cNvSpPr txBox="1">
            <a:spLocks/>
          </p:cNvSpPr>
          <p:nvPr/>
        </p:nvSpPr>
        <p:spPr>
          <a:xfrm>
            <a:off x="872067" y="2675467"/>
            <a:ext cx="10820823" cy="3450696"/>
          </a:xfrm>
          <a:prstGeom prst="rect">
            <a:avLst/>
          </a:prstGeom>
        </p:spPr>
        <p:txBody>
          <a:bodyPr/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Silberschatz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A.,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Korth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H. F., &amp; Sudarshan, S. (2020). Database System Concepts (7th ed.). McGraw-Hill. (Part six, Chapter 15 and 16. Query processing and optimization page no-689 to 794)</a:t>
            </a:r>
          </a:p>
          <a:p>
            <a:r>
              <a:rPr lang="en-IN" b="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Rupley</a:t>
            </a:r>
            <a:r>
              <a:rPr lang="en-IN" b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Jr, Michael L. "Introduction to query processing and optimization." Indiana University at South Bend (2008).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Practice with SQL compiler Such as MySQL, </a:t>
            </a:r>
            <a:r>
              <a:rPr lang="en-IN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</a:p>
          <a:p>
            <a:pPr lvl="1"/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compiler - </a:t>
            </a:r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https://sqlfiddle.com/</a:t>
            </a:r>
            <a:r>
              <a:rPr lang="en-IN" sz="24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514600" lvl="8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https://sqlzoo.net/wiki/SQL_Tutorial</a:t>
            </a:r>
            <a:r>
              <a:rPr lang="en-IN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528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1125</TotalTime>
  <Words>1064</Words>
  <Application>Microsoft Macintosh PowerPoint</Application>
  <PresentationFormat>Widescreen</PresentationFormat>
  <Paragraphs>154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ＭＳ Ｐゴシック</vt:lpstr>
      <vt:lpstr>Arial</vt:lpstr>
      <vt:lpstr>Calibri</vt:lpstr>
      <vt:lpstr>Candara</vt:lpstr>
      <vt:lpstr>Consolas</vt:lpstr>
      <vt:lpstr>Courier New</vt:lpstr>
      <vt:lpstr>Symbol</vt:lpstr>
      <vt:lpstr>Times New Roman</vt:lpstr>
      <vt:lpstr>Wingdings</vt:lpstr>
      <vt:lpstr>Waveform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5104</cp:lastModifiedBy>
  <cp:revision>136</cp:revision>
  <dcterms:created xsi:type="dcterms:W3CDTF">2025-12-19T07:01:46Z</dcterms:created>
  <dcterms:modified xsi:type="dcterms:W3CDTF">2026-01-06T01:19:38Z</dcterms:modified>
</cp:coreProperties>
</file>